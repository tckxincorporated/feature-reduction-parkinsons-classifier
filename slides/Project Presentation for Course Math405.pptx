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9" r:id="rId12"/>
    <p:sldId id="270" r:id="rId13"/>
    <p:sldId id="272" r:id="rId14"/>
    <p:sldId id="271" r:id="rId15"/>
    <p:sldId id="273" r:id="rId16"/>
    <p:sldId id="274" r:id="rId17"/>
    <p:sldId id="275" r:id="rId18"/>
    <p:sldId id="280" r:id="rId19"/>
    <p:sldId id="276" r:id="rId20"/>
    <p:sldId id="277" r:id="rId21"/>
    <p:sldId id="281" r:id="rId22"/>
    <p:sldId id="282" r:id="rId23"/>
    <p:sldId id="283" r:id="rId24"/>
    <p:sldId id="278" r:id="rId25"/>
    <p:sldId id="279" r:id="rId26"/>
  </p:sldIdLst>
  <p:sldSz cx="18288000" cy="10287000"/>
  <p:notesSz cx="6858000" cy="9144000"/>
  <p:embeddedFontLst>
    <p:embeddedFont>
      <p:font typeface="Amiko" panose="020B0604020202020204" charset="0"/>
      <p:regular r:id="rId27"/>
    </p:embeddedFont>
    <p:embeddedFont>
      <p:font typeface="Cambria Math" panose="02040503050406030204" pitchFamily="18" charset="0"/>
      <p:regular r:id="rId28"/>
    </p:embeddedFont>
    <p:embeddedFont>
      <p:font typeface="Nunito Sans Bold" charset="0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52" d="100"/>
          <a:sy n="52" d="100"/>
        </p:scale>
        <p:origin x="1070" y="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06/12/2025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06/12/2025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06/12/2025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06/12/2025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06/12/2025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06/12/2025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06/12/2025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06/12/2025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06/12/2025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06/12/2025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06/12/2025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06/12/2025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10" Type="http://schemas.openxmlformats.org/officeDocument/2006/relationships/image" Target="../media/image26.png"/><Relationship Id="rId4" Type="http://schemas.openxmlformats.org/officeDocument/2006/relationships/image" Target="../media/image3.png"/><Relationship Id="rId9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30.png"/><Relationship Id="rId5" Type="http://schemas.openxmlformats.org/officeDocument/2006/relationships/image" Target="../media/image4.svg"/><Relationship Id="rId10" Type="http://schemas.openxmlformats.org/officeDocument/2006/relationships/image" Target="../media/image29.png"/><Relationship Id="rId4" Type="http://schemas.openxmlformats.org/officeDocument/2006/relationships/image" Target="../media/image3.png"/><Relationship Id="rId9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6.svg"/><Relationship Id="rId7" Type="http://schemas.openxmlformats.org/officeDocument/2006/relationships/image" Target="../media/image3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38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40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583365" y="6257806"/>
            <a:ext cx="10093406" cy="6000989"/>
          </a:xfrm>
          <a:custGeom>
            <a:avLst/>
            <a:gdLst/>
            <a:ahLst/>
            <a:cxnLst/>
            <a:rect l="l" t="t" r="r" b="b"/>
            <a:pathLst>
              <a:path w="10093406" h="6000989">
                <a:moveTo>
                  <a:pt x="0" y="0"/>
                </a:moveTo>
                <a:lnTo>
                  <a:pt x="10093406" y="0"/>
                </a:lnTo>
                <a:lnTo>
                  <a:pt x="10093406" y="6000988"/>
                </a:lnTo>
                <a:lnTo>
                  <a:pt x="0" y="60009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H="1" flipV="1">
            <a:off x="-3265860" y="-1023938"/>
            <a:ext cx="10093406" cy="6000989"/>
          </a:xfrm>
          <a:custGeom>
            <a:avLst/>
            <a:gdLst/>
            <a:ahLst/>
            <a:cxnLst/>
            <a:rect l="l" t="t" r="r" b="b"/>
            <a:pathLst>
              <a:path w="10093406" h="6000989">
                <a:moveTo>
                  <a:pt x="10093406" y="6000989"/>
                </a:moveTo>
                <a:lnTo>
                  <a:pt x="0" y="6000989"/>
                </a:lnTo>
                <a:lnTo>
                  <a:pt x="0" y="0"/>
                </a:lnTo>
                <a:lnTo>
                  <a:pt x="10093406" y="0"/>
                </a:lnTo>
                <a:lnTo>
                  <a:pt x="10093406" y="600098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-1749240">
            <a:off x="14107833" y="8613248"/>
            <a:ext cx="2252125" cy="1126062"/>
          </a:xfrm>
          <a:custGeom>
            <a:avLst/>
            <a:gdLst/>
            <a:ahLst/>
            <a:cxnLst/>
            <a:rect l="l" t="t" r="r" b="b"/>
            <a:pathLst>
              <a:path w="2252125" h="1126062">
                <a:moveTo>
                  <a:pt x="0" y="0"/>
                </a:moveTo>
                <a:lnTo>
                  <a:pt x="2252124" y="0"/>
                </a:lnTo>
                <a:lnTo>
                  <a:pt x="2252124" y="1126062"/>
                </a:lnTo>
                <a:lnTo>
                  <a:pt x="0" y="11260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rot="-1749240" flipV="1">
            <a:off x="1905275" y="650043"/>
            <a:ext cx="2128989" cy="1064495"/>
          </a:xfrm>
          <a:custGeom>
            <a:avLst/>
            <a:gdLst/>
            <a:ahLst/>
            <a:cxnLst/>
            <a:rect l="l" t="t" r="r" b="b"/>
            <a:pathLst>
              <a:path w="2128989" h="1064495">
                <a:moveTo>
                  <a:pt x="0" y="1064495"/>
                </a:moveTo>
                <a:lnTo>
                  <a:pt x="2128989" y="1064495"/>
                </a:lnTo>
                <a:lnTo>
                  <a:pt x="2128989" y="0"/>
                </a:lnTo>
                <a:lnTo>
                  <a:pt x="0" y="0"/>
                </a:lnTo>
                <a:lnTo>
                  <a:pt x="0" y="106449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6491586" y="8853488"/>
            <a:ext cx="2364581" cy="2364581"/>
          </a:xfrm>
          <a:custGeom>
            <a:avLst/>
            <a:gdLst/>
            <a:ahLst/>
            <a:cxnLst/>
            <a:rect l="l" t="t" r="r" b="b"/>
            <a:pathLst>
              <a:path w="2364581" h="2364581">
                <a:moveTo>
                  <a:pt x="0" y="0"/>
                </a:moveTo>
                <a:lnTo>
                  <a:pt x="2364581" y="0"/>
                </a:lnTo>
                <a:lnTo>
                  <a:pt x="2364581" y="2364581"/>
                </a:lnTo>
                <a:lnTo>
                  <a:pt x="0" y="23645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-869488" y="-983397"/>
            <a:ext cx="2364581" cy="2364581"/>
          </a:xfrm>
          <a:custGeom>
            <a:avLst/>
            <a:gdLst/>
            <a:ahLst/>
            <a:cxnLst/>
            <a:rect l="l" t="t" r="r" b="b"/>
            <a:pathLst>
              <a:path w="2364581" h="2364581">
                <a:moveTo>
                  <a:pt x="0" y="0"/>
                </a:moveTo>
                <a:lnTo>
                  <a:pt x="2364581" y="0"/>
                </a:lnTo>
                <a:lnTo>
                  <a:pt x="2364581" y="2364582"/>
                </a:lnTo>
                <a:lnTo>
                  <a:pt x="0" y="23645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3175349" y="3391416"/>
            <a:ext cx="12816033" cy="2866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5600" b="1">
                <a:solidFill>
                  <a:srgbClr val="03275A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SUSTAINABLE FEATURE REDUCTION FOR PARKINSON’S DISEASE DETECTION USING NEURAL NETWORKS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583365" y="6257806"/>
            <a:ext cx="10093406" cy="6000989"/>
          </a:xfrm>
          <a:custGeom>
            <a:avLst/>
            <a:gdLst/>
            <a:ahLst/>
            <a:cxnLst/>
            <a:rect l="l" t="t" r="r" b="b"/>
            <a:pathLst>
              <a:path w="10093406" h="6000989">
                <a:moveTo>
                  <a:pt x="0" y="0"/>
                </a:moveTo>
                <a:lnTo>
                  <a:pt x="10093406" y="0"/>
                </a:lnTo>
                <a:lnTo>
                  <a:pt x="10093406" y="6000988"/>
                </a:lnTo>
                <a:lnTo>
                  <a:pt x="0" y="60009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H="1" flipV="1">
            <a:off x="-3265860" y="-1023938"/>
            <a:ext cx="10093406" cy="6000989"/>
          </a:xfrm>
          <a:custGeom>
            <a:avLst/>
            <a:gdLst/>
            <a:ahLst/>
            <a:cxnLst/>
            <a:rect l="l" t="t" r="r" b="b"/>
            <a:pathLst>
              <a:path w="10093406" h="6000989">
                <a:moveTo>
                  <a:pt x="10093406" y="6000989"/>
                </a:moveTo>
                <a:lnTo>
                  <a:pt x="0" y="6000989"/>
                </a:lnTo>
                <a:lnTo>
                  <a:pt x="0" y="0"/>
                </a:lnTo>
                <a:lnTo>
                  <a:pt x="10093406" y="0"/>
                </a:lnTo>
                <a:lnTo>
                  <a:pt x="10093406" y="600098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-1749240">
            <a:off x="14107833" y="8613248"/>
            <a:ext cx="2252125" cy="1126062"/>
          </a:xfrm>
          <a:custGeom>
            <a:avLst/>
            <a:gdLst/>
            <a:ahLst/>
            <a:cxnLst/>
            <a:rect l="l" t="t" r="r" b="b"/>
            <a:pathLst>
              <a:path w="2252125" h="1126062">
                <a:moveTo>
                  <a:pt x="0" y="0"/>
                </a:moveTo>
                <a:lnTo>
                  <a:pt x="2252124" y="0"/>
                </a:lnTo>
                <a:lnTo>
                  <a:pt x="2252124" y="1126062"/>
                </a:lnTo>
                <a:lnTo>
                  <a:pt x="0" y="11260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rot="-1749240" flipV="1">
            <a:off x="1905275" y="650043"/>
            <a:ext cx="2128989" cy="1064495"/>
          </a:xfrm>
          <a:custGeom>
            <a:avLst/>
            <a:gdLst/>
            <a:ahLst/>
            <a:cxnLst/>
            <a:rect l="l" t="t" r="r" b="b"/>
            <a:pathLst>
              <a:path w="2128989" h="1064495">
                <a:moveTo>
                  <a:pt x="0" y="1064495"/>
                </a:moveTo>
                <a:lnTo>
                  <a:pt x="2128989" y="1064495"/>
                </a:lnTo>
                <a:lnTo>
                  <a:pt x="2128989" y="0"/>
                </a:lnTo>
                <a:lnTo>
                  <a:pt x="0" y="0"/>
                </a:lnTo>
                <a:lnTo>
                  <a:pt x="0" y="106449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6491586" y="8853488"/>
            <a:ext cx="2364581" cy="2364581"/>
          </a:xfrm>
          <a:custGeom>
            <a:avLst/>
            <a:gdLst/>
            <a:ahLst/>
            <a:cxnLst/>
            <a:rect l="l" t="t" r="r" b="b"/>
            <a:pathLst>
              <a:path w="2364581" h="2364581">
                <a:moveTo>
                  <a:pt x="0" y="0"/>
                </a:moveTo>
                <a:lnTo>
                  <a:pt x="2364581" y="0"/>
                </a:lnTo>
                <a:lnTo>
                  <a:pt x="2364581" y="2364581"/>
                </a:lnTo>
                <a:lnTo>
                  <a:pt x="0" y="23645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-869488" y="-983397"/>
            <a:ext cx="2364581" cy="2364581"/>
          </a:xfrm>
          <a:custGeom>
            <a:avLst/>
            <a:gdLst/>
            <a:ahLst/>
            <a:cxnLst/>
            <a:rect l="l" t="t" r="r" b="b"/>
            <a:pathLst>
              <a:path w="2364581" h="2364581">
                <a:moveTo>
                  <a:pt x="0" y="0"/>
                </a:moveTo>
                <a:lnTo>
                  <a:pt x="2364581" y="0"/>
                </a:lnTo>
                <a:lnTo>
                  <a:pt x="2364581" y="2364582"/>
                </a:lnTo>
                <a:lnTo>
                  <a:pt x="0" y="23645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4990144" y="3321348"/>
            <a:ext cx="8307712" cy="1356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92"/>
              </a:lnSpc>
            </a:pPr>
            <a:r>
              <a:rPr lang="en-US" sz="10292" b="1">
                <a:solidFill>
                  <a:srgbClr val="03275A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OUR TEAM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664432" y="4936509"/>
            <a:ext cx="6959136" cy="445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00"/>
              </a:lnSpc>
            </a:pPr>
            <a:r>
              <a:rPr lang="en-US" sz="3300" dirty="0">
                <a:solidFill>
                  <a:srgbClr val="03275A"/>
                </a:solidFill>
                <a:latin typeface="Amiko"/>
                <a:ea typeface="Amiko"/>
                <a:cs typeface="Amiko"/>
                <a:sym typeface="Amiko"/>
              </a:rPr>
              <a:t>Hassan Alnasser (202172010)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664432" y="5832971"/>
            <a:ext cx="6959136" cy="445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00"/>
              </a:lnSpc>
            </a:pPr>
            <a:r>
              <a:rPr lang="en-US" sz="3300">
                <a:solidFill>
                  <a:srgbClr val="03275A"/>
                </a:solidFill>
                <a:latin typeface="Amiko"/>
                <a:ea typeface="Amiko"/>
                <a:cs typeface="Amiko"/>
                <a:sym typeface="Amiko"/>
              </a:rPr>
              <a:t>Naif Alqahtani (202172110)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583365" y="6257806"/>
            <a:ext cx="10093406" cy="6000989"/>
          </a:xfrm>
          <a:custGeom>
            <a:avLst/>
            <a:gdLst/>
            <a:ahLst/>
            <a:cxnLst/>
            <a:rect l="l" t="t" r="r" b="b"/>
            <a:pathLst>
              <a:path w="10093406" h="6000989">
                <a:moveTo>
                  <a:pt x="0" y="0"/>
                </a:moveTo>
                <a:lnTo>
                  <a:pt x="10093406" y="0"/>
                </a:lnTo>
                <a:lnTo>
                  <a:pt x="10093406" y="6000988"/>
                </a:lnTo>
                <a:lnTo>
                  <a:pt x="0" y="60009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H="1" flipV="1">
            <a:off x="-3265860" y="-1023938"/>
            <a:ext cx="10093406" cy="6000989"/>
          </a:xfrm>
          <a:custGeom>
            <a:avLst/>
            <a:gdLst/>
            <a:ahLst/>
            <a:cxnLst/>
            <a:rect l="l" t="t" r="r" b="b"/>
            <a:pathLst>
              <a:path w="10093406" h="6000989">
                <a:moveTo>
                  <a:pt x="10093406" y="6000989"/>
                </a:moveTo>
                <a:lnTo>
                  <a:pt x="0" y="6000989"/>
                </a:lnTo>
                <a:lnTo>
                  <a:pt x="0" y="0"/>
                </a:lnTo>
                <a:lnTo>
                  <a:pt x="10093406" y="0"/>
                </a:lnTo>
                <a:lnTo>
                  <a:pt x="10093406" y="600098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-1749240">
            <a:off x="14107833" y="8613248"/>
            <a:ext cx="2252125" cy="1126062"/>
          </a:xfrm>
          <a:custGeom>
            <a:avLst/>
            <a:gdLst/>
            <a:ahLst/>
            <a:cxnLst/>
            <a:rect l="l" t="t" r="r" b="b"/>
            <a:pathLst>
              <a:path w="2252125" h="1126062">
                <a:moveTo>
                  <a:pt x="0" y="0"/>
                </a:moveTo>
                <a:lnTo>
                  <a:pt x="2252124" y="0"/>
                </a:lnTo>
                <a:lnTo>
                  <a:pt x="2252124" y="1126062"/>
                </a:lnTo>
                <a:lnTo>
                  <a:pt x="0" y="11260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rot="-1749240" flipV="1">
            <a:off x="1905275" y="650043"/>
            <a:ext cx="2128989" cy="1064495"/>
          </a:xfrm>
          <a:custGeom>
            <a:avLst/>
            <a:gdLst/>
            <a:ahLst/>
            <a:cxnLst/>
            <a:rect l="l" t="t" r="r" b="b"/>
            <a:pathLst>
              <a:path w="2128989" h="1064495">
                <a:moveTo>
                  <a:pt x="0" y="1064495"/>
                </a:moveTo>
                <a:lnTo>
                  <a:pt x="2128989" y="1064495"/>
                </a:lnTo>
                <a:lnTo>
                  <a:pt x="2128989" y="0"/>
                </a:lnTo>
                <a:lnTo>
                  <a:pt x="0" y="0"/>
                </a:lnTo>
                <a:lnTo>
                  <a:pt x="0" y="106449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6491586" y="8853488"/>
            <a:ext cx="2364581" cy="2364581"/>
          </a:xfrm>
          <a:custGeom>
            <a:avLst/>
            <a:gdLst/>
            <a:ahLst/>
            <a:cxnLst/>
            <a:rect l="l" t="t" r="r" b="b"/>
            <a:pathLst>
              <a:path w="2364581" h="2364581">
                <a:moveTo>
                  <a:pt x="0" y="0"/>
                </a:moveTo>
                <a:lnTo>
                  <a:pt x="2364581" y="0"/>
                </a:lnTo>
                <a:lnTo>
                  <a:pt x="2364581" y="2364581"/>
                </a:lnTo>
                <a:lnTo>
                  <a:pt x="0" y="23645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-869488" y="-983397"/>
            <a:ext cx="2364581" cy="2364581"/>
          </a:xfrm>
          <a:custGeom>
            <a:avLst/>
            <a:gdLst/>
            <a:ahLst/>
            <a:cxnLst/>
            <a:rect l="l" t="t" r="r" b="b"/>
            <a:pathLst>
              <a:path w="2364581" h="2364581">
                <a:moveTo>
                  <a:pt x="0" y="0"/>
                </a:moveTo>
                <a:lnTo>
                  <a:pt x="2364581" y="0"/>
                </a:lnTo>
                <a:lnTo>
                  <a:pt x="2364581" y="2364582"/>
                </a:lnTo>
                <a:lnTo>
                  <a:pt x="0" y="23645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3644738" y="1592063"/>
            <a:ext cx="10998524" cy="1356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92"/>
              </a:lnSpc>
            </a:pPr>
            <a:r>
              <a:rPr lang="en-US" sz="10292" b="1">
                <a:solidFill>
                  <a:srgbClr val="03275A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MOTIVIATION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271151" y="3504950"/>
            <a:ext cx="13745699" cy="47192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2470" lvl="1" indent="-356235" algn="ctr">
              <a:lnSpc>
                <a:spcPts val="4620"/>
              </a:lnSpc>
              <a:buFont typeface="Arial"/>
              <a:buChar char="•"/>
            </a:pPr>
            <a:r>
              <a:rPr lang="en-US" sz="3300" dirty="0">
                <a:solidFill>
                  <a:srgbClr val="03275A"/>
                </a:solidFill>
                <a:latin typeface="Amiko"/>
                <a:ea typeface="Amiko"/>
                <a:cs typeface="Amiko"/>
                <a:sym typeface="Amiko"/>
              </a:rPr>
              <a:t>Parkinson’s disease affects speech patterns </a:t>
            </a:r>
          </a:p>
          <a:p>
            <a:pPr marL="356235" lvl="1" algn="ctr">
              <a:lnSpc>
                <a:spcPts val="4620"/>
              </a:lnSpc>
            </a:pPr>
            <a:r>
              <a:rPr lang="en-US" sz="3300" dirty="0">
                <a:solidFill>
                  <a:srgbClr val="03275A"/>
                </a:solidFill>
                <a:latin typeface="Amiko"/>
                <a:ea typeface="Amiko"/>
                <a:cs typeface="Amiko"/>
                <a:sym typeface="Amiko"/>
              </a:rPr>
              <a:t>(jitter, shimmer, noise).</a:t>
            </a:r>
          </a:p>
          <a:p>
            <a:pPr marL="712470" lvl="1" indent="-356235" algn="ctr">
              <a:lnSpc>
                <a:spcPts val="4620"/>
              </a:lnSpc>
              <a:buFont typeface="Arial"/>
              <a:buChar char="•"/>
            </a:pPr>
            <a:r>
              <a:rPr lang="en-US" sz="3300" dirty="0">
                <a:solidFill>
                  <a:srgbClr val="03275A"/>
                </a:solidFill>
                <a:latin typeface="Amiko"/>
                <a:ea typeface="Amiko"/>
                <a:cs typeface="Amiko"/>
                <a:sym typeface="Amiko"/>
              </a:rPr>
              <a:t>Voice-based models can give non-invasive early screening.</a:t>
            </a:r>
          </a:p>
          <a:p>
            <a:pPr marL="712470" lvl="1" indent="-356235" algn="ctr">
              <a:lnSpc>
                <a:spcPts val="4620"/>
              </a:lnSpc>
              <a:buFont typeface="Arial"/>
              <a:buChar char="•"/>
            </a:pPr>
            <a:r>
              <a:rPr lang="en-US" sz="3300" dirty="0">
                <a:solidFill>
                  <a:srgbClr val="03275A"/>
                </a:solidFill>
                <a:latin typeface="Amiko"/>
                <a:ea typeface="Amiko"/>
                <a:cs typeface="Amiko"/>
                <a:sym typeface="Amiko"/>
              </a:rPr>
              <a:t>Typical ML pipelines use many correlated features, leading to unnecessary complexity.</a:t>
            </a:r>
          </a:p>
          <a:p>
            <a:pPr marL="712470" lvl="1" indent="-356235" algn="ctr">
              <a:lnSpc>
                <a:spcPts val="4620"/>
              </a:lnSpc>
              <a:buFont typeface="Arial"/>
              <a:buChar char="•"/>
            </a:pPr>
            <a:r>
              <a:rPr lang="en-US" sz="3300" dirty="0">
                <a:solidFill>
                  <a:srgbClr val="03275A"/>
                </a:solidFill>
                <a:latin typeface="Amiko"/>
                <a:ea typeface="Amiko"/>
                <a:cs typeface="Amiko"/>
                <a:sym typeface="Amiko"/>
              </a:rPr>
              <a:t>“Can we reduce the number of features while keeping similar accuracy?” Sustainable models: fewer parameters, less training time, lower energy.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583365" y="6257806"/>
            <a:ext cx="10093406" cy="6000989"/>
          </a:xfrm>
          <a:custGeom>
            <a:avLst/>
            <a:gdLst/>
            <a:ahLst/>
            <a:cxnLst/>
            <a:rect l="l" t="t" r="r" b="b"/>
            <a:pathLst>
              <a:path w="10093406" h="6000989">
                <a:moveTo>
                  <a:pt x="0" y="0"/>
                </a:moveTo>
                <a:lnTo>
                  <a:pt x="10093406" y="0"/>
                </a:lnTo>
                <a:lnTo>
                  <a:pt x="10093406" y="6000988"/>
                </a:lnTo>
                <a:lnTo>
                  <a:pt x="0" y="60009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H="1" flipV="1">
            <a:off x="-3265860" y="-1023938"/>
            <a:ext cx="10093406" cy="6000989"/>
          </a:xfrm>
          <a:custGeom>
            <a:avLst/>
            <a:gdLst/>
            <a:ahLst/>
            <a:cxnLst/>
            <a:rect l="l" t="t" r="r" b="b"/>
            <a:pathLst>
              <a:path w="10093406" h="6000989">
                <a:moveTo>
                  <a:pt x="10093406" y="6000989"/>
                </a:moveTo>
                <a:lnTo>
                  <a:pt x="0" y="6000989"/>
                </a:lnTo>
                <a:lnTo>
                  <a:pt x="0" y="0"/>
                </a:lnTo>
                <a:lnTo>
                  <a:pt x="10093406" y="0"/>
                </a:lnTo>
                <a:lnTo>
                  <a:pt x="10093406" y="600098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-1749240">
            <a:off x="14107833" y="8613248"/>
            <a:ext cx="2252125" cy="1126062"/>
          </a:xfrm>
          <a:custGeom>
            <a:avLst/>
            <a:gdLst/>
            <a:ahLst/>
            <a:cxnLst/>
            <a:rect l="l" t="t" r="r" b="b"/>
            <a:pathLst>
              <a:path w="2252125" h="1126062">
                <a:moveTo>
                  <a:pt x="0" y="0"/>
                </a:moveTo>
                <a:lnTo>
                  <a:pt x="2252124" y="0"/>
                </a:lnTo>
                <a:lnTo>
                  <a:pt x="2252124" y="1126062"/>
                </a:lnTo>
                <a:lnTo>
                  <a:pt x="0" y="11260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rot="-1749240" flipV="1">
            <a:off x="1391317" y="451149"/>
            <a:ext cx="2128989" cy="1064495"/>
          </a:xfrm>
          <a:custGeom>
            <a:avLst/>
            <a:gdLst/>
            <a:ahLst/>
            <a:cxnLst/>
            <a:rect l="l" t="t" r="r" b="b"/>
            <a:pathLst>
              <a:path w="2128989" h="1064495">
                <a:moveTo>
                  <a:pt x="0" y="1064495"/>
                </a:moveTo>
                <a:lnTo>
                  <a:pt x="2128989" y="1064495"/>
                </a:lnTo>
                <a:lnTo>
                  <a:pt x="2128989" y="0"/>
                </a:lnTo>
                <a:lnTo>
                  <a:pt x="0" y="0"/>
                </a:lnTo>
                <a:lnTo>
                  <a:pt x="0" y="106449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6491586" y="8853488"/>
            <a:ext cx="2364581" cy="2364581"/>
          </a:xfrm>
          <a:custGeom>
            <a:avLst/>
            <a:gdLst/>
            <a:ahLst/>
            <a:cxnLst/>
            <a:rect l="l" t="t" r="r" b="b"/>
            <a:pathLst>
              <a:path w="2364581" h="2364581">
                <a:moveTo>
                  <a:pt x="0" y="0"/>
                </a:moveTo>
                <a:lnTo>
                  <a:pt x="2364581" y="0"/>
                </a:lnTo>
                <a:lnTo>
                  <a:pt x="2364581" y="2364581"/>
                </a:lnTo>
                <a:lnTo>
                  <a:pt x="0" y="23645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-869488" y="-983397"/>
            <a:ext cx="2364581" cy="2364581"/>
          </a:xfrm>
          <a:custGeom>
            <a:avLst/>
            <a:gdLst/>
            <a:ahLst/>
            <a:cxnLst/>
            <a:rect l="l" t="t" r="r" b="b"/>
            <a:pathLst>
              <a:path w="2364581" h="2364581">
                <a:moveTo>
                  <a:pt x="0" y="0"/>
                </a:moveTo>
                <a:lnTo>
                  <a:pt x="2364581" y="0"/>
                </a:lnTo>
                <a:lnTo>
                  <a:pt x="2364581" y="2364582"/>
                </a:lnTo>
                <a:lnTo>
                  <a:pt x="0" y="23645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3644738" y="565150"/>
            <a:ext cx="10998524" cy="1069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sz="8000" b="1">
                <a:solidFill>
                  <a:srgbClr val="03275A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DATASET OVERVIEW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271151" y="1909882"/>
            <a:ext cx="5044049" cy="76687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12470" lvl="1" indent="-356235" algn="l">
              <a:lnSpc>
                <a:spcPts val="4620"/>
              </a:lnSpc>
              <a:buFont typeface="Arial"/>
              <a:buChar char="•"/>
            </a:pPr>
            <a:r>
              <a:rPr lang="en-US" sz="3300" dirty="0">
                <a:solidFill>
                  <a:srgbClr val="03275A"/>
                </a:solidFill>
                <a:latin typeface="Amiko"/>
                <a:ea typeface="Amiko"/>
                <a:cs typeface="Amiko"/>
                <a:sym typeface="Amiko"/>
              </a:rPr>
              <a:t>Source: Voice recordings of individuals with and without Parkinson’s.</a:t>
            </a:r>
          </a:p>
          <a:p>
            <a:pPr marL="712470" lvl="1" indent="-356235" algn="l">
              <a:lnSpc>
                <a:spcPts val="4620"/>
              </a:lnSpc>
              <a:buFont typeface="Arial"/>
              <a:buChar char="•"/>
            </a:pPr>
            <a:r>
              <a:rPr lang="en-US" sz="3300" dirty="0">
                <a:solidFill>
                  <a:srgbClr val="03275A"/>
                </a:solidFill>
                <a:latin typeface="Amiko"/>
                <a:ea typeface="Amiko"/>
                <a:cs typeface="Amiko"/>
                <a:sym typeface="Amiko"/>
              </a:rPr>
              <a:t>Samples: 195 observations</a:t>
            </a:r>
          </a:p>
          <a:p>
            <a:pPr marL="712470" lvl="1" indent="-356235" algn="l">
              <a:lnSpc>
                <a:spcPts val="4620"/>
              </a:lnSpc>
              <a:buFont typeface="Arial"/>
              <a:buChar char="•"/>
            </a:pPr>
            <a:r>
              <a:rPr lang="en-US" sz="3300" dirty="0">
                <a:solidFill>
                  <a:srgbClr val="03275A"/>
                </a:solidFill>
                <a:latin typeface="Amiko"/>
                <a:ea typeface="Amiko"/>
                <a:cs typeface="Amiko"/>
                <a:sym typeface="Amiko"/>
              </a:rPr>
              <a:t>Features: 22 acoustic measures, e.g.</a:t>
            </a:r>
          </a:p>
          <a:p>
            <a:pPr marL="712470" lvl="1" indent="-356235" algn="l">
              <a:lnSpc>
                <a:spcPts val="4620"/>
              </a:lnSpc>
              <a:buFont typeface="Arial"/>
              <a:buChar char="•"/>
            </a:pPr>
            <a:r>
              <a:rPr lang="en-US" sz="3300" dirty="0">
                <a:solidFill>
                  <a:srgbClr val="03275A"/>
                </a:solidFill>
                <a:latin typeface="Amiko"/>
                <a:ea typeface="Amiko"/>
                <a:cs typeface="Amiko"/>
                <a:sym typeface="Amiko"/>
              </a:rPr>
              <a:t>Target variable: status</a:t>
            </a:r>
          </a:p>
          <a:p>
            <a:pPr marL="1424940" lvl="2" indent="-474980" algn="l">
              <a:lnSpc>
                <a:spcPts val="4620"/>
              </a:lnSpc>
              <a:buFont typeface="Arial"/>
              <a:buChar char="⚬"/>
            </a:pPr>
            <a:r>
              <a:rPr lang="en-US" sz="3300" dirty="0">
                <a:solidFill>
                  <a:srgbClr val="03275A"/>
                </a:solidFill>
                <a:latin typeface="Amiko"/>
                <a:ea typeface="Amiko"/>
                <a:cs typeface="Amiko"/>
                <a:sym typeface="Amiko"/>
              </a:rPr>
              <a:t>0 = healthy</a:t>
            </a:r>
          </a:p>
          <a:p>
            <a:pPr marL="1424940" lvl="2" indent="-474980" algn="l">
              <a:lnSpc>
                <a:spcPts val="4620"/>
              </a:lnSpc>
              <a:buFont typeface="Arial"/>
              <a:buChar char="⚬"/>
            </a:pPr>
            <a:r>
              <a:rPr lang="en-US" sz="3300" dirty="0">
                <a:solidFill>
                  <a:srgbClr val="03275A"/>
                </a:solidFill>
                <a:latin typeface="Amiko"/>
                <a:ea typeface="Amiko"/>
                <a:cs typeface="Amiko"/>
                <a:sym typeface="Amiko"/>
              </a:rPr>
              <a:t>1 = Parkinson’s</a:t>
            </a:r>
          </a:p>
        </p:txBody>
      </p:sp>
      <p:sp>
        <p:nvSpPr>
          <p:cNvPr id="10" name="Freeform 8">
            <a:extLst>
              <a:ext uri="{FF2B5EF4-FFF2-40B4-BE49-F238E27FC236}">
                <a16:creationId xmlns:a16="http://schemas.microsoft.com/office/drawing/2014/main" id="{4A6328F7-39D0-64EC-774A-70201EA15BD6}"/>
              </a:ext>
            </a:extLst>
          </p:cNvPr>
          <p:cNvSpPr/>
          <p:nvPr/>
        </p:nvSpPr>
        <p:spPr>
          <a:xfrm>
            <a:off x="8032024" y="1635126"/>
            <a:ext cx="5944179" cy="7927545"/>
          </a:xfrm>
          <a:custGeom>
            <a:avLst/>
            <a:gdLst/>
            <a:ahLst/>
            <a:cxnLst/>
            <a:rect l="l" t="t" r="r" b="b"/>
            <a:pathLst>
              <a:path w="7403075" h="8400653">
                <a:moveTo>
                  <a:pt x="0" y="0"/>
                </a:moveTo>
                <a:lnTo>
                  <a:pt x="7403076" y="0"/>
                </a:lnTo>
                <a:lnTo>
                  <a:pt x="7403076" y="8400653"/>
                </a:lnTo>
                <a:lnTo>
                  <a:pt x="0" y="840065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583365" y="6257806"/>
            <a:ext cx="10093406" cy="6000989"/>
          </a:xfrm>
          <a:custGeom>
            <a:avLst/>
            <a:gdLst/>
            <a:ahLst/>
            <a:cxnLst/>
            <a:rect l="l" t="t" r="r" b="b"/>
            <a:pathLst>
              <a:path w="10093406" h="6000989">
                <a:moveTo>
                  <a:pt x="0" y="0"/>
                </a:moveTo>
                <a:lnTo>
                  <a:pt x="10093406" y="0"/>
                </a:lnTo>
                <a:lnTo>
                  <a:pt x="10093406" y="6000988"/>
                </a:lnTo>
                <a:lnTo>
                  <a:pt x="0" y="60009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H="1" flipV="1">
            <a:off x="-3265860" y="-1023938"/>
            <a:ext cx="10093406" cy="6000989"/>
          </a:xfrm>
          <a:custGeom>
            <a:avLst/>
            <a:gdLst/>
            <a:ahLst/>
            <a:cxnLst/>
            <a:rect l="l" t="t" r="r" b="b"/>
            <a:pathLst>
              <a:path w="10093406" h="6000989">
                <a:moveTo>
                  <a:pt x="10093406" y="6000989"/>
                </a:moveTo>
                <a:lnTo>
                  <a:pt x="0" y="6000989"/>
                </a:lnTo>
                <a:lnTo>
                  <a:pt x="0" y="0"/>
                </a:lnTo>
                <a:lnTo>
                  <a:pt x="10093406" y="0"/>
                </a:lnTo>
                <a:lnTo>
                  <a:pt x="10093406" y="600098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-1749240">
            <a:off x="14107833" y="8613248"/>
            <a:ext cx="2252125" cy="1126062"/>
          </a:xfrm>
          <a:custGeom>
            <a:avLst/>
            <a:gdLst/>
            <a:ahLst/>
            <a:cxnLst/>
            <a:rect l="l" t="t" r="r" b="b"/>
            <a:pathLst>
              <a:path w="2252125" h="1126062">
                <a:moveTo>
                  <a:pt x="0" y="0"/>
                </a:moveTo>
                <a:lnTo>
                  <a:pt x="2252124" y="0"/>
                </a:lnTo>
                <a:lnTo>
                  <a:pt x="2252124" y="1126062"/>
                </a:lnTo>
                <a:lnTo>
                  <a:pt x="0" y="11260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rot="-1749240" flipV="1">
            <a:off x="1391317" y="451149"/>
            <a:ext cx="2128989" cy="1064495"/>
          </a:xfrm>
          <a:custGeom>
            <a:avLst/>
            <a:gdLst/>
            <a:ahLst/>
            <a:cxnLst/>
            <a:rect l="l" t="t" r="r" b="b"/>
            <a:pathLst>
              <a:path w="2128989" h="1064495">
                <a:moveTo>
                  <a:pt x="0" y="1064495"/>
                </a:moveTo>
                <a:lnTo>
                  <a:pt x="2128989" y="1064495"/>
                </a:lnTo>
                <a:lnTo>
                  <a:pt x="2128989" y="0"/>
                </a:lnTo>
                <a:lnTo>
                  <a:pt x="0" y="0"/>
                </a:lnTo>
                <a:lnTo>
                  <a:pt x="0" y="106449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6491586" y="8853488"/>
            <a:ext cx="2364581" cy="2364581"/>
          </a:xfrm>
          <a:custGeom>
            <a:avLst/>
            <a:gdLst/>
            <a:ahLst/>
            <a:cxnLst/>
            <a:rect l="l" t="t" r="r" b="b"/>
            <a:pathLst>
              <a:path w="2364581" h="2364581">
                <a:moveTo>
                  <a:pt x="0" y="0"/>
                </a:moveTo>
                <a:lnTo>
                  <a:pt x="2364581" y="0"/>
                </a:lnTo>
                <a:lnTo>
                  <a:pt x="2364581" y="2364581"/>
                </a:lnTo>
                <a:lnTo>
                  <a:pt x="0" y="23645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-869488" y="-983397"/>
            <a:ext cx="2364581" cy="2364581"/>
          </a:xfrm>
          <a:custGeom>
            <a:avLst/>
            <a:gdLst/>
            <a:ahLst/>
            <a:cxnLst/>
            <a:rect l="l" t="t" r="r" b="b"/>
            <a:pathLst>
              <a:path w="2364581" h="2364581">
                <a:moveTo>
                  <a:pt x="0" y="0"/>
                </a:moveTo>
                <a:lnTo>
                  <a:pt x="2364581" y="0"/>
                </a:lnTo>
                <a:lnTo>
                  <a:pt x="2364581" y="2364582"/>
                </a:lnTo>
                <a:lnTo>
                  <a:pt x="0" y="23645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3644738" y="565150"/>
            <a:ext cx="10998524" cy="1069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sz="8000" b="1">
                <a:solidFill>
                  <a:srgbClr val="03275A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DATASET OVERVIEW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1E252D6-B6B9-C6A5-1085-155CE02109C5}"/>
                  </a:ext>
                </a:extLst>
              </p:cNvPr>
              <p:cNvSpPr txBox="1"/>
              <p:nvPr/>
            </p:nvSpPr>
            <p:spPr>
              <a:xfrm>
                <a:off x="2590800" y="2026145"/>
                <a:ext cx="12509662" cy="77313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2400" b="1" dirty="0"/>
                  <a:t>Dataset Structure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2400" b="1" dirty="0"/>
                  <a:t>22 features</a:t>
                </a:r>
                <a:r>
                  <a:rPr lang="en-US" sz="2400" dirty="0"/>
                  <a:t> → each patient sample is a vector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240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ar-AE" sz="2400" i="0"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</m:oMath>
                </a14:m>
                <a:endParaRPr lang="ar-AE" sz="2400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ar-AE" sz="2400" b="1" dirty="0"/>
                  <a:t>197 </a:t>
                </a:r>
                <a:r>
                  <a:rPr lang="en-US" sz="2400" b="1" dirty="0"/>
                  <a:t>samples</a:t>
                </a:r>
                <a:r>
                  <a:rPr lang="en-US" sz="2400" dirty="0"/>
                  <a:t> → together form a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</a:rPr>
                      <m:t>197</m:t>
                    </m:r>
                    <m:r>
                      <a:rPr lang="en-US" sz="2400" i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sz="2400" i="0">
                        <a:latin typeface="Cambria Math" panose="02040503050406030204" pitchFamily="18" charset="0"/>
                      </a:rPr>
                      <m:t>22</m:t>
                    </m:r>
                  </m:oMath>
                </a14:m>
                <a:r>
                  <a:rPr lang="en-US" sz="2400" dirty="0"/>
                  <a:t> data matrix</a:t>
                </a:r>
              </a:p>
              <a:p>
                <a:pPr>
                  <a:buNone/>
                </a:pPr>
                <a:br>
                  <a:rPr lang="en-US" sz="2400" dirty="0"/>
                </a:br>
                <a:endParaRPr lang="en-US" sz="2400" dirty="0"/>
              </a:p>
              <a:p>
                <a:pPr>
                  <a:buNone/>
                </a:pPr>
                <a:r>
                  <a:rPr lang="en-US" sz="2400" b="1" dirty="0"/>
                  <a:t>Patient Feature Vector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ar-AE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ar-AE" sz="2400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ar-AE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ar-AE" sz="2400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ar-AE" sz="2400" i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  <m:phant>
                                  <m:phantPr>
                                    <m:zeroAsc m:val="on"/>
                                    <m:ctrlPr>
                                      <a:rPr lang="ar-AE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phantPr>
                                  <m:e>
                                    <m:r>
                                      <a:rPr lang="ar-AE" sz="2400" i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</m:phant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ar-AE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ar-AE" sz="2400" i="0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ar-AE" sz="2400" i="0">
                          <a:latin typeface="Cambria Math" panose="02040503050406030204" pitchFamily="18" charset="0"/>
                        </a:rPr>
                        <m:t> ∈</m:t>
                      </m:r>
                      <m:sSup>
                        <m:sSup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2400" i="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ar-AE" sz="2400" i="0">
                              <a:latin typeface="Cambria Math" panose="02040503050406030204" pitchFamily="18" charset="0"/>
                            </a:rPr>
                            <m:t>22</m:t>
                          </m:r>
                        </m:sup>
                      </m:sSup>
                    </m:oMath>
                  </m:oMathPara>
                </a14:m>
                <a:endParaRPr lang="ar-AE" sz="2400" dirty="0"/>
              </a:p>
              <a:p>
                <a:pPr>
                  <a:buNone/>
                </a:pPr>
                <a:r>
                  <a:rPr lang="en-US" sz="2400" dirty="0"/>
                  <a:t>Each component corresponds to one biomedical voice measurement</a:t>
                </a:r>
                <a:br>
                  <a:rPr lang="en-US" sz="2400" dirty="0"/>
                </a:br>
                <a:r>
                  <a:rPr lang="en-US" sz="2400" dirty="0"/>
                  <a:t>(e.g., frequency, jitter, shimmer).</a:t>
                </a:r>
              </a:p>
              <a:p>
                <a:pPr>
                  <a:buNone/>
                </a:pPr>
                <a:br>
                  <a:rPr lang="en-US" sz="2400" dirty="0"/>
                </a:br>
                <a:endParaRPr lang="en-US" sz="2400" dirty="0"/>
              </a:p>
              <a:p>
                <a:pPr>
                  <a:buNone/>
                </a:pPr>
                <a:r>
                  <a:rPr lang="en-US" sz="2400" b="1" dirty="0"/>
                  <a:t>Full Dataset Matrix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240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ar-AE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ar-AE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lang="ar-AE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ar-AE" sz="2400" i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ar-AE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ar-AE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lang="ar-AE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ar-AE" sz="2400" i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</m:mr>
                            <m:mr>
                              <m:e>
                                <m:r>
                                  <a:rPr lang="ar-AE" sz="2400" i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  <m:phant>
                                  <m:phantPr>
                                    <m:zeroAsc m:val="on"/>
                                    <m:ctrlPr>
                                      <a:rPr lang="ar-AE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phantPr>
                                  <m:e>
                                    <m:r>
                                      <a:rPr lang="ar-AE" sz="2400" i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</m:phant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ar-AE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ar-AE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lang="ar-AE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ar-AE" sz="2400" i="0">
                                            <a:latin typeface="Cambria Math" panose="02040503050406030204" pitchFamily="18" charset="0"/>
                                          </a:rPr>
                                          <m:t>197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</m:mr>
                          </m:m>
                        </m:e>
                      </m:d>
                      <m:r>
                        <a:rPr lang="ar-AE" sz="2400" i="0">
                          <a:latin typeface="Cambria Math" panose="02040503050406030204" pitchFamily="18" charset="0"/>
                        </a:rPr>
                        <m:t> ∈</m:t>
                      </m:r>
                      <m:sSup>
                        <m:sSup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2400" i="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ar-AE" sz="2400" i="0">
                              <a:latin typeface="Cambria Math" panose="02040503050406030204" pitchFamily="18" charset="0"/>
                            </a:rPr>
                            <m:t>197</m:t>
                          </m:r>
                          <m:r>
                            <a:rPr lang="ar-AE" sz="2400" i="0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ar-AE" sz="2400" i="0">
                              <a:latin typeface="Cambria Math" panose="02040503050406030204" pitchFamily="18" charset="0"/>
                            </a:rPr>
                            <m:t>22</m:t>
                          </m:r>
                        </m:sup>
                      </m:sSup>
                    </m:oMath>
                  </m:oMathPara>
                </a14:m>
                <a:endParaRPr lang="ar-AE" sz="2400" dirty="0"/>
              </a:p>
              <a:p>
                <a:pPr>
                  <a:buNone/>
                </a:pPr>
                <a:r>
                  <a:rPr lang="en-US" sz="2400" dirty="0"/>
                  <a:t>Where each row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d>
                          <m:dPr>
                            <m:ctrlPr>
                              <a:rPr lang="ar-AE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sup>
                    </m:sSup>
                  </m:oMath>
                </a14:m>
                <a:r>
                  <a:rPr lang="en-US" sz="2400" dirty="0"/>
                  <a:t>is a patient sample (one voice recording),</a:t>
                </a:r>
                <a:br>
                  <a:rPr lang="en-US" sz="2400" dirty="0"/>
                </a:br>
                <a:r>
                  <a:rPr lang="en-US" sz="2400" dirty="0"/>
                  <a:t>and each column corresponds to a feature.</a:t>
                </a: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1E252D6-B6B9-C6A5-1085-155CE02109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0800" y="2026145"/>
                <a:ext cx="12509662" cy="7731347"/>
              </a:xfrm>
              <a:prstGeom prst="rect">
                <a:avLst/>
              </a:prstGeom>
              <a:blipFill>
                <a:blip r:embed="rId8"/>
                <a:stretch>
                  <a:fillRect l="-731" t="-630" b="-7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75959" y="6583732"/>
            <a:ext cx="10093406" cy="6000989"/>
          </a:xfrm>
          <a:custGeom>
            <a:avLst/>
            <a:gdLst/>
            <a:ahLst/>
            <a:cxnLst/>
            <a:rect l="l" t="t" r="r" b="b"/>
            <a:pathLst>
              <a:path w="10093406" h="6000989">
                <a:moveTo>
                  <a:pt x="0" y="0"/>
                </a:moveTo>
                <a:lnTo>
                  <a:pt x="10093406" y="0"/>
                </a:lnTo>
                <a:lnTo>
                  <a:pt x="10093406" y="6000989"/>
                </a:lnTo>
                <a:lnTo>
                  <a:pt x="0" y="60009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H="1" flipV="1">
            <a:off x="-3779818" y="-1777642"/>
            <a:ext cx="10093406" cy="6000989"/>
          </a:xfrm>
          <a:custGeom>
            <a:avLst/>
            <a:gdLst/>
            <a:ahLst/>
            <a:cxnLst/>
            <a:rect l="l" t="t" r="r" b="b"/>
            <a:pathLst>
              <a:path w="10093406" h="6000989">
                <a:moveTo>
                  <a:pt x="10093406" y="6000988"/>
                </a:moveTo>
                <a:lnTo>
                  <a:pt x="0" y="6000988"/>
                </a:lnTo>
                <a:lnTo>
                  <a:pt x="0" y="0"/>
                </a:lnTo>
                <a:lnTo>
                  <a:pt x="10093406" y="0"/>
                </a:lnTo>
                <a:lnTo>
                  <a:pt x="10093406" y="600098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-1749240">
            <a:off x="15290123" y="8878063"/>
            <a:ext cx="2252125" cy="1126062"/>
          </a:xfrm>
          <a:custGeom>
            <a:avLst/>
            <a:gdLst/>
            <a:ahLst/>
            <a:cxnLst/>
            <a:rect l="l" t="t" r="r" b="b"/>
            <a:pathLst>
              <a:path w="2252125" h="1126062">
                <a:moveTo>
                  <a:pt x="0" y="0"/>
                </a:moveTo>
                <a:lnTo>
                  <a:pt x="2252125" y="0"/>
                </a:lnTo>
                <a:lnTo>
                  <a:pt x="2252125" y="1126062"/>
                </a:lnTo>
                <a:lnTo>
                  <a:pt x="0" y="11260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rot="-1749240" flipV="1">
            <a:off x="430599" y="-109973"/>
            <a:ext cx="2128989" cy="1064495"/>
          </a:xfrm>
          <a:custGeom>
            <a:avLst/>
            <a:gdLst/>
            <a:ahLst/>
            <a:cxnLst/>
            <a:rect l="l" t="t" r="r" b="b"/>
            <a:pathLst>
              <a:path w="2128989" h="1064495">
                <a:moveTo>
                  <a:pt x="0" y="1064495"/>
                </a:moveTo>
                <a:lnTo>
                  <a:pt x="2128989" y="1064495"/>
                </a:lnTo>
                <a:lnTo>
                  <a:pt x="2128989" y="0"/>
                </a:lnTo>
                <a:lnTo>
                  <a:pt x="0" y="0"/>
                </a:lnTo>
                <a:lnTo>
                  <a:pt x="0" y="106449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7259300" y="9258300"/>
            <a:ext cx="2364581" cy="2364581"/>
          </a:xfrm>
          <a:custGeom>
            <a:avLst/>
            <a:gdLst/>
            <a:ahLst/>
            <a:cxnLst/>
            <a:rect l="l" t="t" r="r" b="b"/>
            <a:pathLst>
              <a:path w="2364581" h="2364581">
                <a:moveTo>
                  <a:pt x="0" y="0"/>
                </a:moveTo>
                <a:lnTo>
                  <a:pt x="2364581" y="0"/>
                </a:lnTo>
                <a:lnTo>
                  <a:pt x="2364581" y="2364581"/>
                </a:lnTo>
                <a:lnTo>
                  <a:pt x="0" y="23645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-1500970" y="-1553768"/>
            <a:ext cx="2364581" cy="2364581"/>
          </a:xfrm>
          <a:custGeom>
            <a:avLst/>
            <a:gdLst/>
            <a:ahLst/>
            <a:cxnLst/>
            <a:rect l="l" t="t" r="r" b="b"/>
            <a:pathLst>
              <a:path w="2364581" h="2364581">
                <a:moveTo>
                  <a:pt x="0" y="0"/>
                </a:moveTo>
                <a:lnTo>
                  <a:pt x="2364581" y="0"/>
                </a:lnTo>
                <a:lnTo>
                  <a:pt x="2364581" y="2364582"/>
                </a:lnTo>
                <a:lnTo>
                  <a:pt x="0" y="23645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0275959" y="1763395"/>
            <a:ext cx="6983341" cy="6590528"/>
          </a:xfrm>
          <a:custGeom>
            <a:avLst/>
            <a:gdLst/>
            <a:ahLst/>
            <a:cxnLst/>
            <a:rect l="l" t="t" r="r" b="b"/>
            <a:pathLst>
              <a:path w="6983341" h="6590528">
                <a:moveTo>
                  <a:pt x="0" y="0"/>
                </a:moveTo>
                <a:lnTo>
                  <a:pt x="6983341" y="0"/>
                </a:lnTo>
                <a:lnTo>
                  <a:pt x="6983341" y="6590528"/>
                </a:lnTo>
                <a:lnTo>
                  <a:pt x="0" y="659052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3644738" y="508000"/>
            <a:ext cx="10998524" cy="1255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4800" b="1">
                <a:solidFill>
                  <a:srgbClr val="03275A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CLASS DISTRIBUTION &amp; PREPROCESSING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06167" y="2213162"/>
            <a:ext cx="8837833" cy="53095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07"/>
              </a:lnSpc>
            </a:pPr>
            <a:r>
              <a:rPr lang="en-US" sz="3362">
                <a:solidFill>
                  <a:srgbClr val="03275A"/>
                </a:solidFill>
                <a:latin typeface="Amiko"/>
                <a:ea typeface="Amiko"/>
                <a:cs typeface="Amiko"/>
                <a:sym typeface="Amiko"/>
              </a:rPr>
              <a:t>No missing values in the dataset.</a:t>
            </a:r>
          </a:p>
          <a:p>
            <a:pPr algn="l">
              <a:lnSpc>
                <a:spcPts val="4707"/>
              </a:lnSpc>
            </a:pPr>
            <a:r>
              <a:rPr lang="en-US" sz="3362">
                <a:solidFill>
                  <a:srgbClr val="03275A"/>
                </a:solidFill>
                <a:latin typeface="Amiko"/>
                <a:ea typeface="Amiko"/>
                <a:cs typeface="Amiko"/>
                <a:sym typeface="Amiko"/>
              </a:rPr>
              <a:t>Split into train/test (and validation later) using stratified sampling.</a:t>
            </a:r>
          </a:p>
          <a:p>
            <a:pPr algn="l">
              <a:lnSpc>
                <a:spcPts val="4707"/>
              </a:lnSpc>
            </a:pPr>
            <a:r>
              <a:rPr lang="en-US" sz="3362">
                <a:solidFill>
                  <a:srgbClr val="03275A"/>
                </a:solidFill>
                <a:latin typeface="Amiko"/>
                <a:ea typeface="Amiko"/>
                <a:cs typeface="Amiko"/>
                <a:sym typeface="Amiko"/>
              </a:rPr>
              <a:t>Class counts:</a:t>
            </a:r>
          </a:p>
          <a:p>
            <a:pPr marL="725971" lvl="1" indent="-362986" algn="l">
              <a:lnSpc>
                <a:spcPts val="4707"/>
              </a:lnSpc>
              <a:buFont typeface="Arial"/>
              <a:buChar char="•"/>
            </a:pPr>
            <a:r>
              <a:rPr lang="en-US" sz="3362">
                <a:solidFill>
                  <a:srgbClr val="03275A"/>
                </a:solidFill>
                <a:latin typeface="Amiko"/>
                <a:ea typeface="Amiko"/>
                <a:cs typeface="Amiko"/>
                <a:sym typeface="Amiko"/>
              </a:rPr>
              <a:t>status = 0 (healthy): 48</a:t>
            </a:r>
          </a:p>
          <a:p>
            <a:pPr marL="725971" lvl="1" indent="-362986" algn="l">
              <a:lnSpc>
                <a:spcPts val="4707"/>
              </a:lnSpc>
              <a:buFont typeface="Arial"/>
              <a:buChar char="•"/>
            </a:pPr>
            <a:r>
              <a:rPr lang="en-US" sz="3362">
                <a:solidFill>
                  <a:srgbClr val="03275A"/>
                </a:solidFill>
                <a:latin typeface="Amiko"/>
                <a:ea typeface="Amiko"/>
                <a:cs typeface="Amiko"/>
                <a:sym typeface="Amiko"/>
              </a:rPr>
              <a:t>status = 1 (Parkinson’s): 147</a:t>
            </a:r>
          </a:p>
          <a:p>
            <a:pPr algn="l">
              <a:lnSpc>
                <a:spcPts val="4707"/>
              </a:lnSpc>
            </a:pPr>
            <a:r>
              <a:rPr lang="en-US" sz="3362">
                <a:solidFill>
                  <a:srgbClr val="03275A"/>
                </a:solidFill>
                <a:latin typeface="Amiko"/>
                <a:ea typeface="Amiko"/>
                <a:cs typeface="Amiko"/>
                <a:sym typeface="Amiko"/>
              </a:rPr>
              <a:t>Clear class imbalance (~75% Parkinson’s).</a:t>
            </a:r>
          </a:p>
          <a:p>
            <a:pPr algn="l">
              <a:lnSpc>
                <a:spcPts val="4707"/>
              </a:lnSpc>
            </a:pPr>
            <a:r>
              <a:rPr lang="en-US" sz="3362">
                <a:solidFill>
                  <a:srgbClr val="03275A"/>
                </a:solidFill>
                <a:latin typeface="Amiko"/>
                <a:ea typeface="Amiko"/>
                <a:cs typeface="Amiko"/>
                <a:sym typeface="Amiko"/>
              </a:rPr>
              <a:t>This affects evaluation: accuracy alone can be misleading.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75959" y="6583732"/>
            <a:ext cx="10093406" cy="6000989"/>
          </a:xfrm>
          <a:custGeom>
            <a:avLst/>
            <a:gdLst/>
            <a:ahLst/>
            <a:cxnLst/>
            <a:rect l="l" t="t" r="r" b="b"/>
            <a:pathLst>
              <a:path w="10093406" h="6000989">
                <a:moveTo>
                  <a:pt x="0" y="0"/>
                </a:moveTo>
                <a:lnTo>
                  <a:pt x="10093406" y="0"/>
                </a:lnTo>
                <a:lnTo>
                  <a:pt x="10093406" y="6000989"/>
                </a:lnTo>
                <a:lnTo>
                  <a:pt x="0" y="60009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H="1" flipV="1">
            <a:off x="-3779818" y="-1777642"/>
            <a:ext cx="10093406" cy="6000989"/>
          </a:xfrm>
          <a:custGeom>
            <a:avLst/>
            <a:gdLst/>
            <a:ahLst/>
            <a:cxnLst/>
            <a:rect l="l" t="t" r="r" b="b"/>
            <a:pathLst>
              <a:path w="10093406" h="6000989">
                <a:moveTo>
                  <a:pt x="10093406" y="6000988"/>
                </a:moveTo>
                <a:lnTo>
                  <a:pt x="0" y="6000988"/>
                </a:lnTo>
                <a:lnTo>
                  <a:pt x="0" y="0"/>
                </a:lnTo>
                <a:lnTo>
                  <a:pt x="10093406" y="0"/>
                </a:lnTo>
                <a:lnTo>
                  <a:pt x="10093406" y="600098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-1749240">
            <a:off x="15290123" y="8878063"/>
            <a:ext cx="2252125" cy="1126062"/>
          </a:xfrm>
          <a:custGeom>
            <a:avLst/>
            <a:gdLst/>
            <a:ahLst/>
            <a:cxnLst/>
            <a:rect l="l" t="t" r="r" b="b"/>
            <a:pathLst>
              <a:path w="2252125" h="1126062">
                <a:moveTo>
                  <a:pt x="0" y="0"/>
                </a:moveTo>
                <a:lnTo>
                  <a:pt x="2252125" y="0"/>
                </a:lnTo>
                <a:lnTo>
                  <a:pt x="2252125" y="1126062"/>
                </a:lnTo>
                <a:lnTo>
                  <a:pt x="0" y="11260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rot="-1749240" flipV="1">
            <a:off x="430599" y="-109973"/>
            <a:ext cx="2128989" cy="1064495"/>
          </a:xfrm>
          <a:custGeom>
            <a:avLst/>
            <a:gdLst/>
            <a:ahLst/>
            <a:cxnLst/>
            <a:rect l="l" t="t" r="r" b="b"/>
            <a:pathLst>
              <a:path w="2128989" h="1064495">
                <a:moveTo>
                  <a:pt x="0" y="1064495"/>
                </a:moveTo>
                <a:lnTo>
                  <a:pt x="2128989" y="1064495"/>
                </a:lnTo>
                <a:lnTo>
                  <a:pt x="2128989" y="0"/>
                </a:lnTo>
                <a:lnTo>
                  <a:pt x="0" y="0"/>
                </a:lnTo>
                <a:lnTo>
                  <a:pt x="0" y="106449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7259300" y="9258300"/>
            <a:ext cx="2364581" cy="2364581"/>
          </a:xfrm>
          <a:custGeom>
            <a:avLst/>
            <a:gdLst/>
            <a:ahLst/>
            <a:cxnLst/>
            <a:rect l="l" t="t" r="r" b="b"/>
            <a:pathLst>
              <a:path w="2364581" h="2364581">
                <a:moveTo>
                  <a:pt x="0" y="0"/>
                </a:moveTo>
                <a:lnTo>
                  <a:pt x="2364581" y="0"/>
                </a:lnTo>
                <a:lnTo>
                  <a:pt x="2364581" y="2364581"/>
                </a:lnTo>
                <a:lnTo>
                  <a:pt x="0" y="23645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-1500970" y="-1553768"/>
            <a:ext cx="2364581" cy="2364581"/>
          </a:xfrm>
          <a:custGeom>
            <a:avLst/>
            <a:gdLst/>
            <a:ahLst/>
            <a:cxnLst/>
            <a:rect l="l" t="t" r="r" b="b"/>
            <a:pathLst>
              <a:path w="2364581" h="2364581">
                <a:moveTo>
                  <a:pt x="0" y="0"/>
                </a:moveTo>
                <a:lnTo>
                  <a:pt x="2364581" y="0"/>
                </a:lnTo>
                <a:lnTo>
                  <a:pt x="2364581" y="2364582"/>
                </a:lnTo>
                <a:lnTo>
                  <a:pt x="0" y="23645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3644738" y="508000"/>
            <a:ext cx="10998524" cy="645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4800" b="1" dirty="0">
                <a:solidFill>
                  <a:srgbClr val="03275A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Covariance Between Features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6E570A6B-59BB-4196-5E73-344AB177B7B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00250" y="1793609"/>
            <a:ext cx="14215935" cy="600098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75959" y="6583732"/>
            <a:ext cx="10093406" cy="6000989"/>
          </a:xfrm>
          <a:custGeom>
            <a:avLst/>
            <a:gdLst/>
            <a:ahLst/>
            <a:cxnLst/>
            <a:rect l="l" t="t" r="r" b="b"/>
            <a:pathLst>
              <a:path w="10093406" h="6000989">
                <a:moveTo>
                  <a:pt x="0" y="0"/>
                </a:moveTo>
                <a:lnTo>
                  <a:pt x="10093406" y="0"/>
                </a:lnTo>
                <a:lnTo>
                  <a:pt x="10093406" y="6000989"/>
                </a:lnTo>
                <a:lnTo>
                  <a:pt x="0" y="60009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H="1" flipV="1">
            <a:off x="-3779818" y="-1777642"/>
            <a:ext cx="10093406" cy="6000989"/>
          </a:xfrm>
          <a:custGeom>
            <a:avLst/>
            <a:gdLst/>
            <a:ahLst/>
            <a:cxnLst/>
            <a:rect l="l" t="t" r="r" b="b"/>
            <a:pathLst>
              <a:path w="10093406" h="6000989">
                <a:moveTo>
                  <a:pt x="10093406" y="6000988"/>
                </a:moveTo>
                <a:lnTo>
                  <a:pt x="0" y="6000988"/>
                </a:lnTo>
                <a:lnTo>
                  <a:pt x="0" y="0"/>
                </a:lnTo>
                <a:lnTo>
                  <a:pt x="10093406" y="0"/>
                </a:lnTo>
                <a:lnTo>
                  <a:pt x="10093406" y="600098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-1749240">
            <a:off x="15290123" y="8878063"/>
            <a:ext cx="2252125" cy="1126062"/>
          </a:xfrm>
          <a:custGeom>
            <a:avLst/>
            <a:gdLst/>
            <a:ahLst/>
            <a:cxnLst/>
            <a:rect l="l" t="t" r="r" b="b"/>
            <a:pathLst>
              <a:path w="2252125" h="1126062">
                <a:moveTo>
                  <a:pt x="0" y="0"/>
                </a:moveTo>
                <a:lnTo>
                  <a:pt x="2252125" y="0"/>
                </a:lnTo>
                <a:lnTo>
                  <a:pt x="2252125" y="1126062"/>
                </a:lnTo>
                <a:lnTo>
                  <a:pt x="0" y="11260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rot="-1749240" flipV="1">
            <a:off x="430599" y="-109973"/>
            <a:ext cx="2128989" cy="1064495"/>
          </a:xfrm>
          <a:custGeom>
            <a:avLst/>
            <a:gdLst/>
            <a:ahLst/>
            <a:cxnLst/>
            <a:rect l="l" t="t" r="r" b="b"/>
            <a:pathLst>
              <a:path w="2128989" h="1064495">
                <a:moveTo>
                  <a:pt x="0" y="1064495"/>
                </a:moveTo>
                <a:lnTo>
                  <a:pt x="2128989" y="1064495"/>
                </a:lnTo>
                <a:lnTo>
                  <a:pt x="2128989" y="0"/>
                </a:lnTo>
                <a:lnTo>
                  <a:pt x="0" y="0"/>
                </a:lnTo>
                <a:lnTo>
                  <a:pt x="0" y="106449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7259300" y="9258300"/>
            <a:ext cx="2364581" cy="2364581"/>
          </a:xfrm>
          <a:custGeom>
            <a:avLst/>
            <a:gdLst/>
            <a:ahLst/>
            <a:cxnLst/>
            <a:rect l="l" t="t" r="r" b="b"/>
            <a:pathLst>
              <a:path w="2364581" h="2364581">
                <a:moveTo>
                  <a:pt x="0" y="0"/>
                </a:moveTo>
                <a:lnTo>
                  <a:pt x="2364581" y="0"/>
                </a:lnTo>
                <a:lnTo>
                  <a:pt x="2364581" y="2364581"/>
                </a:lnTo>
                <a:lnTo>
                  <a:pt x="0" y="23645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-1500970" y="-1553768"/>
            <a:ext cx="2364581" cy="2364581"/>
          </a:xfrm>
          <a:custGeom>
            <a:avLst/>
            <a:gdLst/>
            <a:ahLst/>
            <a:cxnLst/>
            <a:rect l="l" t="t" r="r" b="b"/>
            <a:pathLst>
              <a:path w="2364581" h="2364581">
                <a:moveTo>
                  <a:pt x="0" y="0"/>
                </a:moveTo>
                <a:lnTo>
                  <a:pt x="2364581" y="0"/>
                </a:lnTo>
                <a:lnTo>
                  <a:pt x="2364581" y="2364582"/>
                </a:lnTo>
                <a:lnTo>
                  <a:pt x="0" y="23645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9982201" y="1405672"/>
            <a:ext cx="7064152" cy="6709628"/>
          </a:xfrm>
          <a:custGeom>
            <a:avLst/>
            <a:gdLst/>
            <a:ahLst/>
            <a:cxnLst/>
            <a:rect l="l" t="t" r="r" b="b"/>
            <a:pathLst>
              <a:path w="9849146" h="8470265">
                <a:moveTo>
                  <a:pt x="0" y="0"/>
                </a:moveTo>
                <a:lnTo>
                  <a:pt x="9849146" y="0"/>
                </a:lnTo>
                <a:lnTo>
                  <a:pt x="9849146" y="8470265"/>
                </a:lnTo>
                <a:lnTo>
                  <a:pt x="0" y="847026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3644738" y="508000"/>
            <a:ext cx="10998524" cy="645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4800" b="1" dirty="0">
                <a:solidFill>
                  <a:srgbClr val="03275A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Covariance Between Features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62B6340-E1A5-C0AA-DB70-7B9E2D87095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0671" y="2614571"/>
            <a:ext cx="8983329" cy="396916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75959" y="6583732"/>
            <a:ext cx="10093406" cy="6000989"/>
          </a:xfrm>
          <a:custGeom>
            <a:avLst/>
            <a:gdLst/>
            <a:ahLst/>
            <a:cxnLst/>
            <a:rect l="l" t="t" r="r" b="b"/>
            <a:pathLst>
              <a:path w="10093406" h="6000989">
                <a:moveTo>
                  <a:pt x="0" y="0"/>
                </a:moveTo>
                <a:lnTo>
                  <a:pt x="10093406" y="0"/>
                </a:lnTo>
                <a:lnTo>
                  <a:pt x="10093406" y="6000989"/>
                </a:lnTo>
                <a:lnTo>
                  <a:pt x="0" y="60009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H="1" flipV="1">
            <a:off x="-3779818" y="-1777642"/>
            <a:ext cx="10093406" cy="6000989"/>
          </a:xfrm>
          <a:custGeom>
            <a:avLst/>
            <a:gdLst/>
            <a:ahLst/>
            <a:cxnLst/>
            <a:rect l="l" t="t" r="r" b="b"/>
            <a:pathLst>
              <a:path w="10093406" h="6000989">
                <a:moveTo>
                  <a:pt x="10093406" y="6000988"/>
                </a:moveTo>
                <a:lnTo>
                  <a:pt x="0" y="6000988"/>
                </a:lnTo>
                <a:lnTo>
                  <a:pt x="0" y="0"/>
                </a:lnTo>
                <a:lnTo>
                  <a:pt x="10093406" y="0"/>
                </a:lnTo>
                <a:lnTo>
                  <a:pt x="10093406" y="600098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-1749240">
            <a:off x="15290123" y="8878063"/>
            <a:ext cx="2252125" cy="1126062"/>
          </a:xfrm>
          <a:custGeom>
            <a:avLst/>
            <a:gdLst/>
            <a:ahLst/>
            <a:cxnLst/>
            <a:rect l="l" t="t" r="r" b="b"/>
            <a:pathLst>
              <a:path w="2252125" h="1126062">
                <a:moveTo>
                  <a:pt x="0" y="0"/>
                </a:moveTo>
                <a:lnTo>
                  <a:pt x="2252125" y="0"/>
                </a:lnTo>
                <a:lnTo>
                  <a:pt x="2252125" y="1126062"/>
                </a:lnTo>
                <a:lnTo>
                  <a:pt x="0" y="11260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rot="-1749240" flipV="1">
            <a:off x="430599" y="-109973"/>
            <a:ext cx="2128989" cy="1064495"/>
          </a:xfrm>
          <a:custGeom>
            <a:avLst/>
            <a:gdLst/>
            <a:ahLst/>
            <a:cxnLst/>
            <a:rect l="l" t="t" r="r" b="b"/>
            <a:pathLst>
              <a:path w="2128989" h="1064495">
                <a:moveTo>
                  <a:pt x="0" y="1064495"/>
                </a:moveTo>
                <a:lnTo>
                  <a:pt x="2128989" y="1064495"/>
                </a:lnTo>
                <a:lnTo>
                  <a:pt x="2128989" y="0"/>
                </a:lnTo>
                <a:lnTo>
                  <a:pt x="0" y="0"/>
                </a:lnTo>
                <a:lnTo>
                  <a:pt x="0" y="106449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7259300" y="9258300"/>
            <a:ext cx="2364581" cy="2364581"/>
          </a:xfrm>
          <a:custGeom>
            <a:avLst/>
            <a:gdLst/>
            <a:ahLst/>
            <a:cxnLst/>
            <a:rect l="l" t="t" r="r" b="b"/>
            <a:pathLst>
              <a:path w="2364581" h="2364581">
                <a:moveTo>
                  <a:pt x="0" y="0"/>
                </a:moveTo>
                <a:lnTo>
                  <a:pt x="2364581" y="0"/>
                </a:lnTo>
                <a:lnTo>
                  <a:pt x="2364581" y="2364581"/>
                </a:lnTo>
                <a:lnTo>
                  <a:pt x="0" y="23645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-1500970" y="-1553768"/>
            <a:ext cx="2364581" cy="2364581"/>
          </a:xfrm>
          <a:custGeom>
            <a:avLst/>
            <a:gdLst/>
            <a:ahLst/>
            <a:cxnLst/>
            <a:rect l="l" t="t" r="r" b="b"/>
            <a:pathLst>
              <a:path w="2364581" h="2364581">
                <a:moveTo>
                  <a:pt x="0" y="0"/>
                </a:moveTo>
                <a:lnTo>
                  <a:pt x="2364581" y="0"/>
                </a:lnTo>
                <a:lnTo>
                  <a:pt x="2364581" y="2364582"/>
                </a:lnTo>
                <a:lnTo>
                  <a:pt x="0" y="23645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3644738" y="508000"/>
            <a:ext cx="10998524" cy="645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4800" b="1">
                <a:solidFill>
                  <a:srgbClr val="03275A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CORRELATION MATRIX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BA2CA9C-9F54-3BA9-C4F9-136D2951C2B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66885" y="2671309"/>
            <a:ext cx="15224191" cy="432179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75959" y="6583732"/>
            <a:ext cx="10093406" cy="6000989"/>
          </a:xfrm>
          <a:custGeom>
            <a:avLst/>
            <a:gdLst/>
            <a:ahLst/>
            <a:cxnLst/>
            <a:rect l="l" t="t" r="r" b="b"/>
            <a:pathLst>
              <a:path w="10093406" h="6000989">
                <a:moveTo>
                  <a:pt x="0" y="0"/>
                </a:moveTo>
                <a:lnTo>
                  <a:pt x="10093406" y="0"/>
                </a:lnTo>
                <a:lnTo>
                  <a:pt x="10093406" y="6000989"/>
                </a:lnTo>
                <a:lnTo>
                  <a:pt x="0" y="60009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H="1" flipV="1">
            <a:off x="-3779818" y="-1777642"/>
            <a:ext cx="10093406" cy="6000989"/>
          </a:xfrm>
          <a:custGeom>
            <a:avLst/>
            <a:gdLst/>
            <a:ahLst/>
            <a:cxnLst/>
            <a:rect l="l" t="t" r="r" b="b"/>
            <a:pathLst>
              <a:path w="10093406" h="6000989">
                <a:moveTo>
                  <a:pt x="10093406" y="6000988"/>
                </a:moveTo>
                <a:lnTo>
                  <a:pt x="0" y="6000988"/>
                </a:lnTo>
                <a:lnTo>
                  <a:pt x="0" y="0"/>
                </a:lnTo>
                <a:lnTo>
                  <a:pt x="10093406" y="0"/>
                </a:lnTo>
                <a:lnTo>
                  <a:pt x="10093406" y="600098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-1749240">
            <a:off x="15290123" y="8878063"/>
            <a:ext cx="2252125" cy="1126062"/>
          </a:xfrm>
          <a:custGeom>
            <a:avLst/>
            <a:gdLst/>
            <a:ahLst/>
            <a:cxnLst/>
            <a:rect l="l" t="t" r="r" b="b"/>
            <a:pathLst>
              <a:path w="2252125" h="1126062">
                <a:moveTo>
                  <a:pt x="0" y="0"/>
                </a:moveTo>
                <a:lnTo>
                  <a:pt x="2252125" y="0"/>
                </a:lnTo>
                <a:lnTo>
                  <a:pt x="2252125" y="1126062"/>
                </a:lnTo>
                <a:lnTo>
                  <a:pt x="0" y="11260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rot="-1749240" flipV="1">
            <a:off x="430599" y="-109973"/>
            <a:ext cx="2128989" cy="1064495"/>
          </a:xfrm>
          <a:custGeom>
            <a:avLst/>
            <a:gdLst/>
            <a:ahLst/>
            <a:cxnLst/>
            <a:rect l="l" t="t" r="r" b="b"/>
            <a:pathLst>
              <a:path w="2128989" h="1064495">
                <a:moveTo>
                  <a:pt x="0" y="1064495"/>
                </a:moveTo>
                <a:lnTo>
                  <a:pt x="2128989" y="1064495"/>
                </a:lnTo>
                <a:lnTo>
                  <a:pt x="2128989" y="0"/>
                </a:lnTo>
                <a:lnTo>
                  <a:pt x="0" y="0"/>
                </a:lnTo>
                <a:lnTo>
                  <a:pt x="0" y="106449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7259300" y="9258300"/>
            <a:ext cx="2364581" cy="2364581"/>
          </a:xfrm>
          <a:custGeom>
            <a:avLst/>
            <a:gdLst/>
            <a:ahLst/>
            <a:cxnLst/>
            <a:rect l="l" t="t" r="r" b="b"/>
            <a:pathLst>
              <a:path w="2364581" h="2364581">
                <a:moveTo>
                  <a:pt x="0" y="0"/>
                </a:moveTo>
                <a:lnTo>
                  <a:pt x="2364581" y="0"/>
                </a:lnTo>
                <a:lnTo>
                  <a:pt x="2364581" y="2364581"/>
                </a:lnTo>
                <a:lnTo>
                  <a:pt x="0" y="23645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-1500970" y="-1553768"/>
            <a:ext cx="2364581" cy="2364581"/>
          </a:xfrm>
          <a:custGeom>
            <a:avLst/>
            <a:gdLst/>
            <a:ahLst/>
            <a:cxnLst/>
            <a:rect l="l" t="t" r="r" b="b"/>
            <a:pathLst>
              <a:path w="2364581" h="2364581">
                <a:moveTo>
                  <a:pt x="0" y="0"/>
                </a:moveTo>
                <a:lnTo>
                  <a:pt x="2364581" y="0"/>
                </a:lnTo>
                <a:lnTo>
                  <a:pt x="2364581" y="2364582"/>
                </a:lnTo>
                <a:lnTo>
                  <a:pt x="0" y="23645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7620000" y="1751135"/>
            <a:ext cx="8217413" cy="6941503"/>
          </a:xfrm>
          <a:custGeom>
            <a:avLst/>
            <a:gdLst/>
            <a:ahLst/>
            <a:cxnLst/>
            <a:rect l="l" t="t" r="r" b="b"/>
            <a:pathLst>
              <a:path w="10026587" h="8835930">
                <a:moveTo>
                  <a:pt x="0" y="0"/>
                </a:moveTo>
                <a:lnTo>
                  <a:pt x="10026588" y="0"/>
                </a:lnTo>
                <a:lnTo>
                  <a:pt x="10026588" y="8835930"/>
                </a:lnTo>
                <a:lnTo>
                  <a:pt x="0" y="883593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3644738" y="508000"/>
            <a:ext cx="10998524" cy="645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4800" b="1">
                <a:solidFill>
                  <a:srgbClr val="03275A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CORRELATION MATRIX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5808744-0B94-3FF0-0BF7-17116271325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8150" y="2219961"/>
            <a:ext cx="6697010" cy="599206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75959" y="6583732"/>
            <a:ext cx="10093406" cy="6000989"/>
          </a:xfrm>
          <a:custGeom>
            <a:avLst/>
            <a:gdLst/>
            <a:ahLst/>
            <a:cxnLst/>
            <a:rect l="l" t="t" r="r" b="b"/>
            <a:pathLst>
              <a:path w="10093406" h="6000989">
                <a:moveTo>
                  <a:pt x="0" y="0"/>
                </a:moveTo>
                <a:lnTo>
                  <a:pt x="10093406" y="0"/>
                </a:lnTo>
                <a:lnTo>
                  <a:pt x="10093406" y="6000989"/>
                </a:lnTo>
                <a:lnTo>
                  <a:pt x="0" y="60009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H="1" flipV="1">
            <a:off x="-3779818" y="-1777642"/>
            <a:ext cx="10093406" cy="6000989"/>
          </a:xfrm>
          <a:custGeom>
            <a:avLst/>
            <a:gdLst/>
            <a:ahLst/>
            <a:cxnLst/>
            <a:rect l="l" t="t" r="r" b="b"/>
            <a:pathLst>
              <a:path w="10093406" h="6000989">
                <a:moveTo>
                  <a:pt x="10093406" y="6000988"/>
                </a:moveTo>
                <a:lnTo>
                  <a:pt x="0" y="6000988"/>
                </a:lnTo>
                <a:lnTo>
                  <a:pt x="0" y="0"/>
                </a:lnTo>
                <a:lnTo>
                  <a:pt x="10093406" y="0"/>
                </a:lnTo>
                <a:lnTo>
                  <a:pt x="10093406" y="600098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-1749240">
            <a:off x="15290123" y="8878063"/>
            <a:ext cx="2252125" cy="1126062"/>
          </a:xfrm>
          <a:custGeom>
            <a:avLst/>
            <a:gdLst/>
            <a:ahLst/>
            <a:cxnLst/>
            <a:rect l="l" t="t" r="r" b="b"/>
            <a:pathLst>
              <a:path w="2252125" h="1126062">
                <a:moveTo>
                  <a:pt x="0" y="0"/>
                </a:moveTo>
                <a:lnTo>
                  <a:pt x="2252125" y="0"/>
                </a:lnTo>
                <a:lnTo>
                  <a:pt x="2252125" y="1126062"/>
                </a:lnTo>
                <a:lnTo>
                  <a:pt x="0" y="11260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rot="-1749240" flipV="1">
            <a:off x="430599" y="-109973"/>
            <a:ext cx="2128989" cy="1064495"/>
          </a:xfrm>
          <a:custGeom>
            <a:avLst/>
            <a:gdLst/>
            <a:ahLst/>
            <a:cxnLst/>
            <a:rect l="l" t="t" r="r" b="b"/>
            <a:pathLst>
              <a:path w="2128989" h="1064495">
                <a:moveTo>
                  <a:pt x="0" y="1064495"/>
                </a:moveTo>
                <a:lnTo>
                  <a:pt x="2128989" y="1064495"/>
                </a:lnTo>
                <a:lnTo>
                  <a:pt x="2128989" y="0"/>
                </a:lnTo>
                <a:lnTo>
                  <a:pt x="0" y="0"/>
                </a:lnTo>
                <a:lnTo>
                  <a:pt x="0" y="106449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7259300" y="9258300"/>
            <a:ext cx="2364581" cy="2364581"/>
          </a:xfrm>
          <a:custGeom>
            <a:avLst/>
            <a:gdLst/>
            <a:ahLst/>
            <a:cxnLst/>
            <a:rect l="l" t="t" r="r" b="b"/>
            <a:pathLst>
              <a:path w="2364581" h="2364581">
                <a:moveTo>
                  <a:pt x="0" y="0"/>
                </a:moveTo>
                <a:lnTo>
                  <a:pt x="2364581" y="0"/>
                </a:lnTo>
                <a:lnTo>
                  <a:pt x="2364581" y="2364581"/>
                </a:lnTo>
                <a:lnTo>
                  <a:pt x="0" y="23645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-1500970" y="-1553768"/>
            <a:ext cx="2364581" cy="2364581"/>
          </a:xfrm>
          <a:custGeom>
            <a:avLst/>
            <a:gdLst/>
            <a:ahLst/>
            <a:cxnLst/>
            <a:rect l="l" t="t" r="r" b="b"/>
            <a:pathLst>
              <a:path w="2364581" h="2364581">
                <a:moveTo>
                  <a:pt x="0" y="0"/>
                </a:moveTo>
                <a:lnTo>
                  <a:pt x="2364581" y="0"/>
                </a:lnTo>
                <a:lnTo>
                  <a:pt x="2364581" y="2364582"/>
                </a:lnTo>
                <a:lnTo>
                  <a:pt x="0" y="23645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3387121" y="577057"/>
            <a:ext cx="11513757" cy="645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4800" b="1">
                <a:solidFill>
                  <a:srgbClr val="03275A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PAIRWISE STRUCTURE IN THE DATA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845211" y="1717090"/>
            <a:ext cx="10597578" cy="7633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03275A"/>
                </a:solidFill>
                <a:latin typeface="Amiko"/>
                <a:ea typeface="Amiko"/>
                <a:cs typeface="Amiko"/>
                <a:sym typeface="Amiko"/>
              </a:rPr>
              <a:t>Pairplots of selected features colored by status.</a:t>
            </a:r>
          </a:p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03275A"/>
                </a:solidFill>
                <a:latin typeface="Amiko"/>
                <a:ea typeface="Amiko"/>
                <a:cs typeface="Amiko"/>
                <a:sym typeface="Amiko"/>
              </a:rPr>
              <a:t>Observations:</a:t>
            </a:r>
          </a:p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3275A"/>
                </a:solidFill>
                <a:latin typeface="Amiko"/>
                <a:ea typeface="Amiko"/>
                <a:cs typeface="Amiko"/>
                <a:sym typeface="Amiko"/>
              </a:rPr>
              <a:t>Parkinson’s patients often show:</a:t>
            </a:r>
          </a:p>
          <a:p>
            <a:pPr marL="1554480" lvl="2" indent="-518160" algn="l">
              <a:lnSpc>
                <a:spcPts val="5040"/>
              </a:lnSpc>
              <a:buFont typeface="Arial"/>
              <a:buChar char="⚬"/>
            </a:pPr>
            <a:r>
              <a:rPr lang="en-US" sz="3600">
                <a:solidFill>
                  <a:srgbClr val="03275A"/>
                </a:solidFill>
                <a:latin typeface="Amiko"/>
                <a:ea typeface="Amiko"/>
                <a:cs typeface="Amiko"/>
                <a:sym typeface="Amiko"/>
              </a:rPr>
              <a:t>Higher jitter and shimmer.</a:t>
            </a:r>
          </a:p>
          <a:p>
            <a:pPr marL="1554480" lvl="2" indent="-518160" algn="l">
              <a:lnSpc>
                <a:spcPts val="5040"/>
              </a:lnSpc>
              <a:buFont typeface="Arial"/>
              <a:buChar char="⚬"/>
            </a:pPr>
            <a:r>
              <a:rPr lang="en-US" sz="3600">
                <a:solidFill>
                  <a:srgbClr val="03275A"/>
                </a:solidFill>
                <a:latin typeface="Amiko"/>
                <a:ea typeface="Amiko"/>
                <a:cs typeface="Amiko"/>
                <a:sym typeface="Amiko"/>
              </a:rPr>
              <a:t>Lower HNR (more noise in the voice).</a:t>
            </a:r>
          </a:p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3275A"/>
                </a:solidFill>
                <a:latin typeface="Amiko"/>
                <a:ea typeface="Amiko"/>
                <a:cs typeface="Amiko"/>
                <a:sym typeface="Amiko"/>
              </a:rPr>
              <a:t>Some 2D plots show partial separation of classes.</a:t>
            </a:r>
          </a:p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3275A"/>
                </a:solidFill>
                <a:latin typeface="Amiko"/>
                <a:ea typeface="Amiko"/>
                <a:cs typeface="Amiko"/>
                <a:sym typeface="Amiko"/>
              </a:rPr>
              <a:t>But no single feature perfectly separates classes → we rely on combinations (high-dimensional geometry).</a:t>
            </a:r>
          </a:p>
          <a:p>
            <a:pPr algn="l">
              <a:lnSpc>
                <a:spcPts val="5040"/>
              </a:lnSpc>
            </a:pPr>
            <a:endParaRPr lang="en-US" sz="3600">
              <a:solidFill>
                <a:srgbClr val="03275A"/>
              </a:solidFill>
              <a:latin typeface="Amiko"/>
              <a:ea typeface="Amiko"/>
              <a:cs typeface="Amiko"/>
              <a:sym typeface="Amik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75959" y="6583732"/>
            <a:ext cx="10093406" cy="6000989"/>
          </a:xfrm>
          <a:custGeom>
            <a:avLst/>
            <a:gdLst/>
            <a:ahLst/>
            <a:cxnLst/>
            <a:rect l="l" t="t" r="r" b="b"/>
            <a:pathLst>
              <a:path w="10093406" h="6000989">
                <a:moveTo>
                  <a:pt x="0" y="0"/>
                </a:moveTo>
                <a:lnTo>
                  <a:pt x="10093406" y="0"/>
                </a:lnTo>
                <a:lnTo>
                  <a:pt x="10093406" y="6000989"/>
                </a:lnTo>
                <a:lnTo>
                  <a:pt x="0" y="60009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H="1" flipV="1">
            <a:off x="-3779818" y="-1777642"/>
            <a:ext cx="10093406" cy="6000989"/>
          </a:xfrm>
          <a:custGeom>
            <a:avLst/>
            <a:gdLst/>
            <a:ahLst/>
            <a:cxnLst/>
            <a:rect l="l" t="t" r="r" b="b"/>
            <a:pathLst>
              <a:path w="10093406" h="6000989">
                <a:moveTo>
                  <a:pt x="10093406" y="6000988"/>
                </a:moveTo>
                <a:lnTo>
                  <a:pt x="0" y="6000988"/>
                </a:lnTo>
                <a:lnTo>
                  <a:pt x="0" y="0"/>
                </a:lnTo>
                <a:lnTo>
                  <a:pt x="10093406" y="0"/>
                </a:lnTo>
                <a:lnTo>
                  <a:pt x="10093406" y="600098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-1749240">
            <a:off x="15290123" y="8878063"/>
            <a:ext cx="2252125" cy="1126062"/>
          </a:xfrm>
          <a:custGeom>
            <a:avLst/>
            <a:gdLst/>
            <a:ahLst/>
            <a:cxnLst/>
            <a:rect l="l" t="t" r="r" b="b"/>
            <a:pathLst>
              <a:path w="2252125" h="1126062">
                <a:moveTo>
                  <a:pt x="0" y="0"/>
                </a:moveTo>
                <a:lnTo>
                  <a:pt x="2252125" y="0"/>
                </a:lnTo>
                <a:lnTo>
                  <a:pt x="2252125" y="1126062"/>
                </a:lnTo>
                <a:lnTo>
                  <a:pt x="0" y="11260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rot="-1749240" flipV="1">
            <a:off x="430599" y="-109973"/>
            <a:ext cx="2128989" cy="1064495"/>
          </a:xfrm>
          <a:custGeom>
            <a:avLst/>
            <a:gdLst/>
            <a:ahLst/>
            <a:cxnLst/>
            <a:rect l="l" t="t" r="r" b="b"/>
            <a:pathLst>
              <a:path w="2128989" h="1064495">
                <a:moveTo>
                  <a:pt x="0" y="1064495"/>
                </a:moveTo>
                <a:lnTo>
                  <a:pt x="2128989" y="1064495"/>
                </a:lnTo>
                <a:lnTo>
                  <a:pt x="2128989" y="0"/>
                </a:lnTo>
                <a:lnTo>
                  <a:pt x="0" y="0"/>
                </a:lnTo>
                <a:lnTo>
                  <a:pt x="0" y="106449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7259300" y="9258300"/>
            <a:ext cx="2364581" cy="2364581"/>
          </a:xfrm>
          <a:custGeom>
            <a:avLst/>
            <a:gdLst/>
            <a:ahLst/>
            <a:cxnLst/>
            <a:rect l="l" t="t" r="r" b="b"/>
            <a:pathLst>
              <a:path w="2364581" h="2364581">
                <a:moveTo>
                  <a:pt x="0" y="0"/>
                </a:moveTo>
                <a:lnTo>
                  <a:pt x="2364581" y="0"/>
                </a:lnTo>
                <a:lnTo>
                  <a:pt x="2364581" y="2364581"/>
                </a:lnTo>
                <a:lnTo>
                  <a:pt x="0" y="23645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-1500970" y="-1553768"/>
            <a:ext cx="2364581" cy="2364581"/>
          </a:xfrm>
          <a:custGeom>
            <a:avLst/>
            <a:gdLst/>
            <a:ahLst/>
            <a:cxnLst/>
            <a:rect l="l" t="t" r="r" b="b"/>
            <a:pathLst>
              <a:path w="2364581" h="2364581">
                <a:moveTo>
                  <a:pt x="0" y="0"/>
                </a:moveTo>
                <a:lnTo>
                  <a:pt x="2364581" y="0"/>
                </a:lnTo>
                <a:lnTo>
                  <a:pt x="2364581" y="2364582"/>
                </a:lnTo>
                <a:lnTo>
                  <a:pt x="0" y="23645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4580231" y="1222852"/>
            <a:ext cx="9127538" cy="8910759"/>
          </a:xfrm>
          <a:custGeom>
            <a:avLst/>
            <a:gdLst/>
            <a:ahLst/>
            <a:cxnLst/>
            <a:rect l="l" t="t" r="r" b="b"/>
            <a:pathLst>
              <a:path w="9127538" h="8910759">
                <a:moveTo>
                  <a:pt x="0" y="0"/>
                </a:moveTo>
                <a:lnTo>
                  <a:pt x="9127538" y="0"/>
                </a:lnTo>
                <a:lnTo>
                  <a:pt x="9127538" y="8910760"/>
                </a:lnTo>
                <a:lnTo>
                  <a:pt x="0" y="891076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3387121" y="577057"/>
            <a:ext cx="11513757" cy="645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4800" b="1">
                <a:solidFill>
                  <a:srgbClr val="03275A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PAIRWISE STRUCTURE IN THE DATA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75959" y="6583732"/>
            <a:ext cx="10093406" cy="6000989"/>
          </a:xfrm>
          <a:custGeom>
            <a:avLst/>
            <a:gdLst/>
            <a:ahLst/>
            <a:cxnLst/>
            <a:rect l="l" t="t" r="r" b="b"/>
            <a:pathLst>
              <a:path w="10093406" h="6000989">
                <a:moveTo>
                  <a:pt x="0" y="0"/>
                </a:moveTo>
                <a:lnTo>
                  <a:pt x="10093406" y="0"/>
                </a:lnTo>
                <a:lnTo>
                  <a:pt x="10093406" y="6000989"/>
                </a:lnTo>
                <a:lnTo>
                  <a:pt x="0" y="60009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H="1" flipV="1">
            <a:off x="-3779818" y="-1777642"/>
            <a:ext cx="10093406" cy="6000989"/>
          </a:xfrm>
          <a:custGeom>
            <a:avLst/>
            <a:gdLst/>
            <a:ahLst/>
            <a:cxnLst/>
            <a:rect l="l" t="t" r="r" b="b"/>
            <a:pathLst>
              <a:path w="10093406" h="6000989">
                <a:moveTo>
                  <a:pt x="10093406" y="6000988"/>
                </a:moveTo>
                <a:lnTo>
                  <a:pt x="0" y="6000988"/>
                </a:lnTo>
                <a:lnTo>
                  <a:pt x="0" y="0"/>
                </a:lnTo>
                <a:lnTo>
                  <a:pt x="10093406" y="0"/>
                </a:lnTo>
                <a:lnTo>
                  <a:pt x="10093406" y="600098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-1749240">
            <a:off x="15290123" y="8878063"/>
            <a:ext cx="2252125" cy="1126062"/>
          </a:xfrm>
          <a:custGeom>
            <a:avLst/>
            <a:gdLst/>
            <a:ahLst/>
            <a:cxnLst/>
            <a:rect l="l" t="t" r="r" b="b"/>
            <a:pathLst>
              <a:path w="2252125" h="1126062">
                <a:moveTo>
                  <a:pt x="0" y="0"/>
                </a:moveTo>
                <a:lnTo>
                  <a:pt x="2252125" y="0"/>
                </a:lnTo>
                <a:lnTo>
                  <a:pt x="2252125" y="1126062"/>
                </a:lnTo>
                <a:lnTo>
                  <a:pt x="0" y="11260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rot="-1749240" flipV="1">
            <a:off x="430599" y="-109973"/>
            <a:ext cx="2128989" cy="1064495"/>
          </a:xfrm>
          <a:custGeom>
            <a:avLst/>
            <a:gdLst/>
            <a:ahLst/>
            <a:cxnLst/>
            <a:rect l="l" t="t" r="r" b="b"/>
            <a:pathLst>
              <a:path w="2128989" h="1064495">
                <a:moveTo>
                  <a:pt x="0" y="1064495"/>
                </a:moveTo>
                <a:lnTo>
                  <a:pt x="2128989" y="1064495"/>
                </a:lnTo>
                <a:lnTo>
                  <a:pt x="2128989" y="0"/>
                </a:lnTo>
                <a:lnTo>
                  <a:pt x="0" y="0"/>
                </a:lnTo>
                <a:lnTo>
                  <a:pt x="0" y="106449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7259300" y="9258300"/>
            <a:ext cx="2364581" cy="2364581"/>
          </a:xfrm>
          <a:custGeom>
            <a:avLst/>
            <a:gdLst/>
            <a:ahLst/>
            <a:cxnLst/>
            <a:rect l="l" t="t" r="r" b="b"/>
            <a:pathLst>
              <a:path w="2364581" h="2364581">
                <a:moveTo>
                  <a:pt x="0" y="0"/>
                </a:moveTo>
                <a:lnTo>
                  <a:pt x="2364581" y="0"/>
                </a:lnTo>
                <a:lnTo>
                  <a:pt x="2364581" y="2364581"/>
                </a:lnTo>
                <a:lnTo>
                  <a:pt x="0" y="23645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-1500970" y="-1553768"/>
            <a:ext cx="2364581" cy="2364581"/>
          </a:xfrm>
          <a:custGeom>
            <a:avLst/>
            <a:gdLst/>
            <a:ahLst/>
            <a:cxnLst/>
            <a:rect l="l" t="t" r="r" b="b"/>
            <a:pathLst>
              <a:path w="2364581" h="2364581">
                <a:moveTo>
                  <a:pt x="0" y="0"/>
                </a:moveTo>
                <a:lnTo>
                  <a:pt x="2364581" y="0"/>
                </a:lnTo>
                <a:lnTo>
                  <a:pt x="2364581" y="2364582"/>
                </a:lnTo>
                <a:lnTo>
                  <a:pt x="0" y="23645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3387121" y="577057"/>
            <a:ext cx="11513757" cy="1255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4800" b="1" dirty="0">
                <a:solidFill>
                  <a:srgbClr val="03275A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CORRELATION-BASED FEATURE SELECTION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06167" y="2219265"/>
            <a:ext cx="9843874" cy="44884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dirty="0">
                <a:solidFill>
                  <a:srgbClr val="03275A"/>
                </a:solidFill>
                <a:latin typeface="Amiko"/>
                <a:ea typeface="Amiko"/>
                <a:cs typeface="Amiko"/>
                <a:sym typeface="Amiko"/>
              </a:rPr>
              <a:t>Threshold:∣</a:t>
            </a:r>
            <a:r>
              <a:rPr lang="en-US" sz="3600" dirty="0" err="1">
                <a:solidFill>
                  <a:srgbClr val="03275A"/>
                </a:solidFill>
                <a:latin typeface="Amiko"/>
                <a:ea typeface="Amiko"/>
                <a:cs typeface="Amiko"/>
                <a:sym typeface="Amiko"/>
              </a:rPr>
              <a:t>corr</a:t>
            </a:r>
            <a:r>
              <a:rPr lang="en-US" sz="3600" dirty="0">
                <a:solidFill>
                  <a:srgbClr val="03275A"/>
                </a:solidFill>
                <a:latin typeface="Amiko"/>
                <a:ea typeface="Amiko"/>
                <a:cs typeface="Amiko"/>
                <a:sym typeface="Amiko"/>
              </a:rPr>
              <a:t>(fi​, fj​)∣≥0.85 → features are “too similar”.</a:t>
            </a:r>
          </a:p>
          <a:p>
            <a:pPr algn="l">
              <a:lnSpc>
                <a:spcPts val="5040"/>
              </a:lnSpc>
            </a:pPr>
            <a:r>
              <a:rPr lang="en-US" sz="3600" dirty="0">
                <a:solidFill>
                  <a:srgbClr val="03275A"/>
                </a:solidFill>
                <a:latin typeface="Amiko"/>
                <a:ea typeface="Amiko"/>
                <a:cs typeface="Amiko"/>
                <a:sym typeface="Amiko"/>
              </a:rPr>
              <a:t>For each such pair (f1,f2):</a:t>
            </a:r>
          </a:p>
          <a:p>
            <a:pPr marL="777240" lvl="1" indent="-388620" algn="l">
              <a:lnSpc>
                <a:spcPts val="5040"/>
              </a:lnSpc>
              <a:buAutoNum type="arabicPeriod"/>
            </a:pPr>
            <a:r>
              <a:rPr lang="en-US" sz="3600" dirty="0" err="1">
                <a:solidFill>
                  <a:srgbClr val="03275A"/>
                </a:solidFill>
                <a:latin typeface="Amiko"/>
                <a:ea typeface="Amiko"/>
                <a:cs typeface="Amiko"/>
                <a:sym typeface="Amiko"/>
              </a:rPr>
              <a:t>Compute∣corr</a:t>
            </a:r>
            <a:r>
              <a:rPr lang="en-US" sz="3600" dirty="0">
                <a:solidFill>
                  <a:srgbClr val="03275A"/>
                </a:solidFill>
                <a:latin typeface="Amiko"/>
                <a:ea typeface="Amiko"/>
                <a:cs typeface="Amiko"/>
                <a:sym typeface="Amiko"/>
              </a:rPr>
              <a:t>(</a:t>
            </a:r>
            <a:r>
              <a:rPr lang="en-US" sz="3600" dirty="0" err="1">
                <a:solidFill>
                  <a:srgbClr val="03275A"/>
                </a:solidFill>
                <a:latin typeface="Amiko"/>
                <a:ea typeface="Amiko"/>
                <a:cs typeface="Amiko"/>
                <a:sym typeface="Amiko"/>
              </a:rPr>
              <a:t>fk</a:t>
            </a:r>
            <a:r>
              <a:rPr lang="en-US" sz="3600" dirty="0">
                <a:solidFill>
                  <a:srgbClr val="03275A"/>
                </a:solidFill>
                <a:latin typeface="Amiko"/>
                <a:ea typeface="Amiko"/>
                <a:cs typeface="Amiko"/>
                <a:sym typeface="Amiko"/>
              </a:rPr>
              <a:t>​, status)∣ for each feature.</a:t>
            </a:r>
          </a:p>
          <a:p>
            <a:pPr marL="777240" lvl="1" indent="-388620" algn="l">
              <a:lnSpc>
                <a:spcPts val="5040"/>
              </a:lnSpc>
              <a:buAutoNum type="arabicPeriod"/>
            </a:pPr>
            <a:r>
              <a:rPr lang="en-US" sz="3600" dirty="0">
                <a:solidFill>
                  <a:srgbClr val="03275A"/>
                </a:solidFill>
                <a:latin typeface="Amiko"/>
                <a:ea typeface="Amiko"/>
                <a:cs typeface="Amiko"/>
                <a:sym typeface="Amiko"/>
              </a:rPr>
              <a:t>Drop the feature with a lower correlation with the target.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ECF2E8C-71CD-177A-D2BB-BBCEDA7B85B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07096" y="2085226"/>
            <a:ext cx="4181878" cy="752186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634E744-8178-D168-9EE0-FD6954C5EC2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7933" y="6710331"/>
            <a:ext cx="8177896" cy="301984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75959" y="6583732"/>
            <a:ext cx="10093406" cy="6000989"/>
          </a:xfrm>
          <a:custGeom>
            <a:avLst/>
            <a:gdLst/>
            <a:ahLst/>
            <a:cxnLst/>
            <a:rect l="l" t="t" r="r" b="b"/>
            <a:pathLst>
              <a:path w="10093406" h="6000989">
                <a:moveTo>
                  <a:pt x="0" y="0"/>
                </a:moveTo>
                <a:lnTo>
                  <a:pt x="10093406" y="0"/>
                </a:lnTo>
                <a:lnTo>
                  <a:pt x="10093406" y="6000989"/>
                </a:lnTo>
                <a:lnTo>
                  <a:pt x="0" y="60009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H="1" flipV="1">
            <a:off x="-3779818" y="-1777642"/>
            <a:ext cx="10093406" cy="6000989"/>
          </a:xfrm>
          <a:custGeom>
            <a:avLst/>
            <a:gdLst/>
            <a:ahLst/>
            <a:cxnLst/>
            <a:rect l="l" t="t" r="r" b="b"/>
            <a:pathLst>
              <a:path w="10093406" h="6000989">
                <a:moveTo>
                  <a:pt x="10093406" y="6000988"/>
                </a:moveTo>
                <a:lnTo>
                  <a:pt x="0" y="6000988"/>
                </a:lnTo>
                <a:lnTo>
                  <a:pt x="0" y="0"/>
                </a:lnTo>
                <a:lnTo>
                  <a:pt x="10093406" y="0"/>
                </a:lnTo>
                <a:lnTo>
                  <a:pt x="10093406" y="600098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-1749240">
            <a:off x="15290123" y="8878063"/>
            <a:ext cx="2252125" cy="1126062"/>
          </a:xfrm>
          <a:custGeom>
            <a:avLst/>
            <a:gdLst/>
            <a:ahLst/>
            <a:cxnLst/>
            <a:rect l="l" t="t" r="r" b="b"/>
            <a:pathLst>
              <a:path w="2252125" h="1126062">
                <a:moveTo>
                  <a:pt x="0" y="0"/>
                </a:moveTo>
                <a:lnTo>
                  <a:pt x="2252125" y="0"/>
                </a:lnTo>
                <a:lnTo>
                  <a:pt x="2252125" y="1126062"/>
                </a:lnTo>
                <a:lnTo>
                  <a:pt x="0" y="11260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rot="-1749240" flipV="1">
            <a:off x="430599" y="-109973"/>
            <a:ext cx="2128989" cy="1064495"/>
          </a:xfrm>
          <a:custGeom>
            <a:avLst/>
            <a:gdLst/>
            <a:ahLst/>
            <a:cxnLst/>
            <a:rect l="l" t="t" r="r" b="b"/>
            <a:pathLst>
              <a:path w="2128989" h="1064495">
                <a:moveTo>
                  <a:pt x="0" y="1064495"/>
                </a:moveTo>
                <a:lnTo>
                  <a:pt x="2128989" y="1064495"/>
                </a:lnTo>
                <a:lnTo>
                  <a:pt x="2128989" y="0"/>
                </a:lnTo>
                <a:lnTo>
                  <a:pt x="0" y="0"/>
                </a:lnTo>
                <a:lnTo>
                  <a:pt x="0" y="106449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7259300" y="9258300"/>
            <a:ext cx="2364581" cy="2364581"/>
          </a:xfrm>
          <a:custGeom>
            <a:avLst/>
            <a:gdLst/>
            <a:ahLst/>
            <a:cxnLst/>
            <a:rect l="l" t="t" r="r" b="b"/>
            <a:pathLst>
              <a:path w="2364581" h="2364581">
                <a:moveTo>
                  <a:pt x="0" y="0"/>
                </a:moveTo>
                <a:lnTo>
                  <a:pt x="2364581" y="0"/>
                </a:lnTo>
                <a:lnTo>
                  <a:pt x="2364581" y="2364581"/>
                </a:lnTo>
                <a:lnTo>
                  <a:pt x="0" y="23645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-1500970" y="-1553768"/>
            <a:ext cx="2364581" cy="2364581"/>
          </a:xfrm>
          <a:custGeom>
            <a:avLst/>
            <a:gdLst/>
            <a:ahLst/>
            <a:cxnLst/>
            <a:rect l="l" t="t" r="r" b="b"/>
            <a:pathLst>
              <a:path w="2364581" h="2364581">
                <a:moveTo>
                  <a:pt x="0" y="0"/>
                </a:moveTo>
                <a:lnTo>
                  <a:pt x="2364581" y="0"/>
                </a:lnTo>
                <a:lnTo>
                  <a:pt x="2364581" y="2364582"/>
                </a:lnTo>
                <a:lnTo>
                  <a:pt x="0" y="23645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3644738" y="508000"/>
            <a:ext cx="10998524" cy="1255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4800" b="1">
                <a:solidFill>
                  <a:srgbClr val="03275A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CORRELATION PATTERNS &amp; REDUNDANT FEATURES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2C9FB464-47B1-CB49-0993-2CC78217FCD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3611" y="2004472"/>
            <a:ext cx="9843874" cy="7685741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A07380E6-D001-1CB7-8F7E-8E8DB81F8DA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653334" y="3033403"/>
            <a:ext cx="5801535" cy="393526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583365" y="6257806"/>
            <a:ext cx="10093406" cy="6000989"/>
          </a:xfrm>
          <a:custGeom>
            <a:avLst/>
            <a:gdLst/>
            <a:ahLst/>
            <a:cxnLst/>
            <a:rect l="l" t="t" r="r" b="b"/>
            <a:pathLst>
              <a:path w="10093406" h="6000989">
                <a:moveTo>
                  <a:pt x="0" y="0"/>
                </a:moveTo>
                <a:lnTo>
                  <a:pt x="10093406" y="0"/>
                </a:lnTo>
                <a:lnTo>
                  <a:pt x="10093406" y="6000988"/>
                </a:lnTo>
                <a:lnTo>
                  <a:pt x="0" y="60009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H="1" flipV="1">
            <a:off x="-3265860" y="-1023938"/>
            <a:ext cx="10093406" cy="6000989"/>
          </a:xfrm>
          <a:custGeom>
            <a:avLst/>
            <a:gdLst/>
            <a:ahLst/>
            <a:cxnLst/>
            <a:rect l="l" t="t" r="r" b="b"/>
            <a:pathLst>
              <a:path w="10093406" h="6000989">
                <a:moveTo>
                  <a:pt x="10093406" y="6000989"/>
                </a:moveTo>
                <a:lnTo>
                  <a:pt x="0" y="6000989"/>
                </a:lnTo>
                <a:lnTo>
                  <a:pt x="0" y="0"/>
                </a:lnTo>
                <a:lnTo>
                  <a:pt x="10093406" y="0"/>
                </a:lnTo>
                <a:lnTo>
                  <a:pt x="10093406" y="600098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-1749240">
            <a:off x="14107833" y="8613248"/>
            <a:ext cx="2252125" cy="1126062"/>
          </a:xfrm>
          <a:custGeom>
            <a:avLst/>
            <a:gdLst/>
            <a:ahLst/>
            <a:cxnLst/>
            <a:rect l="l" t="t" r="r" b="b"/>
            <a:pathLst>
              <a:path w="2252125" h="1126062">
                <a:moveTo>
                  <a:pt x="0" y="0"/>
                </a:moveTo>
                <a:lnTo>
                  <a:pt x="2252124" y="0"/>
                </a:lnTo>
                <a:lnTo>
                  <a:pt x="2252124" y="1126062"/>
                </a:lnTo>
                <a:lnTo>
                  <a:pt x="0" y="11260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rot="-1749240" flipV="1">
            <a:off x="1905275" y="650043"/>
            <a:ext cx="2128989" cy="1064495"/>
          </a:xfrm>
          <a:custGeom>
            <a:avLst/>
            <a:gdLst/>
            <a:ahLst/>
            <a:cxnLst/>
            <a:rect l="l" t="t" r="r" b="b"/>
            <a:pathLst>
              <a:path w="2128989" h="1064495">
                <a:moveTo>
                  <a:pt x="0" y="1064495"/>
                </a:moveTo>
                <a:lnTo>
                  <a:pt x="2128989" y="1064495"/>
                </a:lnTo>
                <a:lnTo>
                  <a:pt x="2128989" y="0"/>
                </a:lnTo>
                <a:lnTo>
                  <a:pt x="0" y="0"/>
                </a:lnTo>
                <a:lnTo>
                  <a:pt x="0" y="106449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6491586" y="8853488"/>
            <a:ext cx="2364581" cy="2364581"/>
          </a:xfrm>
          <a:custGeom>
            <a:avLst/>
            <a:gdLst/>
            <a:ahLst/>
            <a:cxnLst/>
            <a:rect l="l" t="t" r="r" b="b"/>
            <a:pathLst>
              <a:path w="2364581" h="2364581">
                <a:moveTo>
                  <a:pt x="0" y="0"/>
                </a:moveTo>
                <a:lnTo>
                  <a:pt x="2364581" y="0"/>
                </a:lnTo>
                <a:lnTo>
                  <a:pt x="2364581" y="2364581"/>
                </a:lnTo>
                <a:lnTo>
                  <a:pt x="0" y="23645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-869488" y="-983397"/>
            <a:ext cx="2364581" cy="2364581"/>
          </a:xfrm>
          <a:custGeom>
            <a:avLst/>
            <a:gdLst/>
            <a:ahLst/>
            <a:cxnLst/>
            <a:rect l="l" t="t" r="r" b="b"/>
            <a:pathLst>
              <a:path w="2364581" h="2364581">
                <a:moveTo>
                  <a:pt x="0" y="0"/>
                </a:moveTo>
                <a:lnTo>
                  <a:pt x="2364581" y="0"/>
                </a:lnTo>
                <a:lnTo>
                  <a:pt x="2364581" y="2364582"/>
                </a:lnTo>
                <a:lnTo>
                  <a:pt x="0" y="23645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6C59230-3511-7A2D-1959-33B23E524590}"/>
              </a:ext>
            </a:extLst>
          </p:cNvPr>
          <p:cNvSpPr txBox="1"/>
          <p:nvPr/>
        </p:nvSpPr>
        <p:spPr>
          <a:xfrm>
            <a:off x="3163198" y="1773306"/>
            <a:ext cx="1146687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/>
              <a:t>Why Data Preparation Matters for Neural Networks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Neural networks rely on gradient-based optimization, which is sensitive to input scale.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Features with different ranges can: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Dominate gradients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Slow or destabilize training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Cause poor convergence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4661D99-A0AB-5866-B57C-7AAA2BA2FC19}"/>
                  </a:ext>
                </a:extLst>
              </p:cNvPr>
              <p:cNvSpPr txBox="1"/>
              <p:nvPr/>
            </p:nvSpPr>
            <p:spPr>
              <a:xfrm>
                <a:off x="3136159" y="3976620"/>
                <a:ext cx="11466870" cy="27827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b="1" dirty="0"/>
                  <a:t>Standardization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𝜇</m:t>
                          </m:r>
                        </m:num>
                        <m:den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𝜎</m:t>
                          </m:r>
                        </m:den>
                      </m:f>
                    </m:oMath>
                  </m:oMathPara>
                </a14:m>
                <a:endParaRPr lang="ar-AE" dirty="0"/>
              </a:p>
              <a:p>
                <a:pPr>
                  <a:buNone/>
                </a:pPr>
                <a:r>
                  <a:rPr lang="en-US" dirty="0"/>
                  <a:t>Where: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the mean (computed on the training set)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the standard deviation</a:t>
                </a:r>
              </a:p>
              <a:p>
                <a:pPr>
                  <a:buNone/>
                </a:pPr>
                <a:r>
                  <a:rPr lang="en-US" dirty="0"/>
                  <a:t>Benefits: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/>
                  <a:t>Ensures all features contribute proportionally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/>
                  <a:t>Prevents exploding or vanishing gradients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/>
                  <a:t>Improves stability and training speed</a:t>
                </a:r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4661D99-A0AB-5866-B57C-7AAA2BA2FC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6159" y="3976620"/>
                <a:ext cx="11466870" cy="2782749"/>
              </a:xfrm>
              <a:prstGeom prst="rect">
                <a:avLst/>
              </a:prstGeom>
              <a:blipFill>
                <a:blip r:embed="rId8"/>
                <a:stretch>
                  <a:fillRect l="-425" t="-1094" b="-2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432E403B-F381-B5D1-71E6-EDBE737A54DA}"/>
              </a:ext>
            </a:extLst>
          </p:cNvPr>
          <p:cNvSpPr txBox="1"/>
          <p:nvPr/>
        </p:nvSpPr>
        <p:spPr>
          <a:xfrm>
            <a:off x="3136159" y="7422576"/>
            <a:ext cx="1146687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Train–Validation Split</a:t>
            </a:r>
          </a:p>
          <a:p>
            <a:pPr>
              <a:buNone/>
            </a:pPr>
            <a:r>
              <a:rPr lang="en-US" dirty="0"/>
              <a:t>We divide the training data into: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Training set: updates neural network weights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Validation set: tunes hyperparameters and prevents overfitting</a:t>
            </a:r>
          </a:p>
          <a:p>
            <a:pPr>
              <a:buNone/>
            </a:pPr>
            <a:r>
              <a:rPr lang="en-US" dirty="0"/>
              <a:t>This is done for both:</a:t>
            </a:r>
          </a:p>
          <a:p>
            <a:pPr>
              <a:buFont typeface="+mj-lt"/>
              <a:buAutoNum type="arabicPeriod"/>
            </a:pPr>
            <a:r>
              <a:rPr lang="en-US" dirty="0"/>
              <a:t>Full feature dataset (22 features)</a:t>
            </a:r>
          </a:p>
          <a:p>
            <a:pPr>
              <a:buFont typeface="+mj-lt"/>
              <a:buAutoNum type="arabicPeriod"/>
            </a:pPr>
            <a:r>
              <a:rPr lang="en-US" dirty="0"/>
              <a:t>Reduced feature dataset (12 features)</a:t>
            </a:r>
          </a:p>
        </p:txBody>
      </p:sp>
      <p:sp>
        <p:nvSpPr>
          <p:cNvPr id="26" name="TextBox 8">
            <a:extLst>
              <a:ext uri="{FF2B5EF4-FFF2-40B4-BE49-F238E27FC236}">
                <a16:creationId xmlns:a16="http://schemas.microsoft.com/office/drawing/2014/main" id="{7EFB292E-F2BC-C9C5-EF18-D33FCFF4D048}"/>
              </a:ext>
            </a:extLst>
          </p:cNvPr>
          <p:cNvSpPr txBox="1"/>
          <p:nvPr/>
        </p:nvSpPr>
        <p:spPr>
          <a:xfrm>
            <a:off x="4172487" y="579316"/>
            <a:ext cx="11513757" cy="646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4800" b="1" dirty="0">
                <a:solidFill>
                  <a:srgbClr val="03275A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Preparing Data for Neural Networks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583365" y="6257806"/>
            <a:ext cx="10093406" cy="6000989"/>
          </a:xfrm>
          <a:custGeom>
            <a:avLst/>
            <a:gdLst/>
            <a:ahLst/>
            <a:cxnLst/>
            <a:rect l="l" t="t" r="r" b="b"/>
            <a:pathLst>
              <a:path w="10093406" h="6000989">
                <a:moveTo>
                  <a:pt x="0" y="0"/>
                </a:moveTo>
                <a:lnTo>
                  <a:pt x="10093406" y="0"/>
                </a:lnTo>
                <a:lnTo>
                  <a:pt x="10093406" y="6000988"/>
                </a:lnTo>
                <a:lnTo>
                  <a:pt x="0" y="60009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H="1" flipV="1">
            <a:off x="-3265860" y="-1023938"/>
            <a:ext cx="10093406" cy="6000989"/>
          </a:xfrm>
          <a:custGeom>
            <a:avLst/>
            <a:gdLst/>
            <a:ahLst/>
            <a:cxnLst/>
            <a:rect l="l" t="t" r="r" b="b"/>
            <a:pathLst>
              <a:path w="10093406" h="6000989">
                <a:moveTo>
                  <a:pt x="10093406" y="6000989"/>
                </a:moveTo>
                <a:lnTo>
                  <a:pt x="0" y="6000989"/>
                </a:lnTo>
                <a:lnTo>
                  <a:pt x="0" y="0"/>
                </a:lnTo>
                <a:lnTo>
                  <a:pt x="10093406" y="0"/>
                </a:lnTo>
                <a:lnTo>
                  <a:pt x="10093406" y="600098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-1749240">
            <a:off x="14107833" y="8613248"/>
            <a:ext cx="2252125" cy="1126062"/>
          </a:xfrm>
          <a:custGeom>
            <a:avLst/>
            <a:gdLst/>
            <a:ahLst/>
            <a:cxnLst/>
            <a:rect l="l" t="t" r="r" b="b"/>
            <a:pathLst>
              <a:path w="2252125" h="1126062">
                <a:moveTo>
                  <a:pt x="0" y="0"/>
                </a:moveTo>
                <a:lnTo>
                  <a:pt x="2252124" y="0"/>
                </a:lnTo>
                <a:lnTo>
                  <a:pt x="2252124" y="1126062"/>
                </a:lnTo>
                <a:lnTo>
                  <a:pt x="0" y="11260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rot="-1749240" flipV="1">
            <a:off x="1905275" y="650043"/>
            <a:ext cx="2128989" cy="1064495"/>
          </a:xfrm>
          <a:custGeom>
            <a:avLst/>
            <a:gdLst/>
            <a:ahLst/>
            <a:cxnLst/>
            <a:rect l="l" t="t" r="r" b="b"/>
            <a:pathLst>
              <a:path w="2128989" h="1064495">
                <a:moveTo>
                  <a:pt x="0" y="1064495"/>
                </a:moveTo>
                <a:lnTo>
                  <a:pt x="2128989" y="1064495"/>
                </a:lnTo>
                <a:lnTo>
                  <a:pt x="2128989" y="0"/>
                </a:lnTo>
                <a:lnTo>
                  <a:pt x="0" y="0"/>
                </a:lnTo>
                <a:lnTo>
                  <a:pt x="0" y="106449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6491586" y="8853488"/>
            <a:ext cx="2364581" cy="2364581"/>
          </a:xfrm>
          <a:custGeom>
            <a:avLst/>
            <a:gdLst/>
            <a:ahLst/>
            <a:cxnLst/>
            <a:rect l="l" t="t" r="r" b="b"/>
            <a:pathLst>
              <a:path w="2364581" h="2364581">
                <a:moveTo>
                  <a:pt x="0" y="0"/>
                </a:moveTo>
                <a:lnTo>
                  <a:pt x="2364581" y="0"/>
                </a:lnTo>
                <a:lnTo>
                  <a:pt x="2364581" y="2364581"/>
                </a:lnTo>
                <a:lnTo>
                  <a:pt x="0" y="23645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-869488" y="-983397"/>
            <a:ext cx="2364581" cy="2364581"/>
          </a:xfrm>
          <a:custGeom>
            <a:avLst/>
            <a:gdLst/>
            <a:ahLst/>
            <a:cxnLst/>
            <a:rect l="l" t="t" r="r" b="b"/>
            <a:pathLst>
              <a:path w="2364581" h="2364581">
                <a:moveTo>
                  <a:pt x="0" y="0"/>
                </a:moveTo>
                <a:lnTo>
                  <a:pt x="2364581" y="0"/>
                </a:lnTo>
                <a:lnTo>
                  <a:pt x="2364581" y="2364582"/>
                </a:lnTo>
                <a:lnTo>
                  <a:pt x="0" y="23645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1E4B6F5-9993-EF2F-58C4-6FE3E8CE836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0365" y="2881312"/>
            <a:ext cx="8316486" cy="547763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DC253C3-01E0-E057-7CBB-E1D5318E18E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20982" y="2881312"/>
            <a:ext cx="8143875" cy="4524375"/>
          </a:xfrm>
          <a:prstGeom prst="rect">
            <a:avLst/>
          </a:prstGeom>
        </p:spPr>
      </p:pic>
      <p:sp>
        <p:nvSpPr>
          <p:cNvPr id="18" name="TextBox 8">
            <a:extLst>
              <a:ext uri="{FF2B5EF4-FFF2-40B4-BE49-F238E27FC236}">
                <a16:creationId xmlns:a16="http://schemas.microsoft.com/office/drawing/2014/main" id="{5414E149-336D-6B8E-872C-36B67ACBE24E}"/>
              </a:ext>
            </a:extLst>
          </p:cNvPr>
          <p:cNvSpPr txBox="1"/>
          <p:nvPr/>
        </p:nvSpPr>
        <p:spPr>
          <a:xfrm>
            <a:off x="4172487" y="579316"/>
            <a:ext cx="11513757" cy="646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4800" b="1" dirty="0">
                <a:solidFill>
                  <a:srgbClr val="03275A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Preparing Data for Neural Networks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583365" y="6257806"/>
            <a:ext cx="10093406" cy="6000989"/>
          </a:xfrm>
          <a:custGeom>
            <a:avLst/>
            <a:gdLst/>
            <a:ahLst/>
            <a:cxnLst/>
            <a:rect l="l" t="t" r="r" b="b"/>
            <a:pathLst>
              <a:path w="10093406" h="6000989">
                <a:moveTo>
                  <a:pt x="0" y="0"/>
                </a:moveTo>
                <a:lnTo>
                  <a:pt x="10093406" y="0"/>
                </a:lnTo>
                <a:lnTo>
                  <a:pt x="10093406" y="6000988"/>
                </a:lnTo>
                <a:lnTo>
                  <a:pt x="0" y="60009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H="1" flipV="1">
            <a:off x="-3265860" y="-1023938"/>
            <a:ext cx="10093406" cy="6000989"/>
          </a:xfrm>
          <a:custGeom>
            <a:avLst/>
            <a:gdLst/>
            <a:ahLst/>
            <a:cxnLst/>
            <a:rect l="l" t="t" r="r" b="b"/>
            <a:pathLst>
              <a:path w="10093406" h="6000989">
                <a:moveTo>
                  <a:pt x="10093406" y="6000989"/>
                </a:moveTo>
                <a:lnTo>
                  <a:pt x="0" y="6000989"/>
                </a:lnTo>
                <a:lnTo>
                  <a:pt x="0" y="0"/>
                </a:lnTo>
                <a:lnTo>
                  <a:pt x="10093406" y="0"/>
                </a:lnTo>
                <a:lnTo>
                  <a:pt x="10093406" y="600098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-1749240">
            <a:off x="14107833" y="8613248"/>
            <a:ext cx="2252125" cy="1126062"/>
          </a:xfrm>
          <a:custGeom>
            <a:avLst/>
            <a:gdLst/>
            <a:ahLst/>
            <a:cxnLst/>
            <a:rect l="l" t="t" r="r" b="b"/>
            <a:pathLst>
              <a:path w="2252125" h="1126062">
                <a:moveTo>
                  <a:pt x="0" y="0"/>
                </a:moveTo>
                <a:lnTo>
                  <a:pt x="2252124" y="0"/>
                </a:lnTo>
                <a:lnTo>
                  <a:pt x="2252124" y="1126062"/>
                </a:lnTo>
                <a:lnTo>
                  <a:pt x="0" y="11260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rot="-1749240" flipV="1">
            <a:off x="1905275" y="650043"/>
            <a:ext cx="2128989" cy="1064495"/>
          </a:xfrm>
          <a:custGeom>
            <a:avLst/>
            <a:gdLst/>
            <a:ahLst/>
            <a:cxnLst/>
            <a:rect l="l" t="t" r="r" b="b"/>
            <a:pathLst>
              <a:path w="2128989" h="1064495">
                <a:moveTo>
                  <a:pt x="0" y="1064495"/>
                </a:moveTo>
                <a:lnTo>
                  <a:pt x="2128989" y="1064495"/>
                </a:lnTo>
                <a:lnTo>
                  <a:pt x="2128989" y="0"/>
                </a:lnTo>
                <a:lnTo>
                  <a:pt x="0" y="0"/>
                </a:lnTo>
                <a:lnTo>
                  <a:pt x="0" y="106449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6491586" y="8853488"/>
            <a:ext cx="2364581" cy="2364581"/>
          </a:xfrm>
          <a:custGeom>
            <a:avLst/>
            <a:gdLst/>
            <a:ahLst/>
            <a:cxnLst/>
            <a:rect l="l" t="t" r="r" b="b"/>
            <a:pathLst>
              <a:path w="2364581" h="2364581">
                <a:moveTo>
                  <a:pt x="0" y="0"/>
                </a:moveTo>
                <a:lnTo>
                  <a:pt x="2364581" y="0"/>
                </a:lnTo>
                <a:lnTo>
                  <a:pt x="2364581" y="2364581"/>
                </a:lnTo>
                <a:lnTo>
                  <a:pt x="0" y="23645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-869488" y="-983397"/>
            <a:ext cx="2364581" cy="2364581"/>
          </a:xfrm>
          <a:custGeom>
            <a:avLst/>
            <a:gdLst/>
            <a:ahLst/>
            <a:cxnLst/>
            <a:rect l="l" t="t" r="r" b="b"/>
            <a:pathLst>
              <a:path w="2364581" h="2364581">
                <a:moveTo>
                  <a:pt x="0" y="0"/>
                </a:moveTo>
                <a:lnTo>
                  <a:pt x="2364581" y="0"/>
                </a:lnTo>
                <a:lnTo>
                  <a:pt x="2364581" y="2364582"/>
                </a:lnTo>
                <a:lnTo>
                  <a:pt x="0" y="23645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3891465" y="503891"/>
            <a:ext cx="11831962" cy="11753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92"/>
              </a:lnSpc>
            </a:pPr>
            <a:r>
              <a:rPr lang="en-US" sz="4800" b="1" dirty="0">
                <a:solidFill>
                  <a:srgbClr val="03275A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Network Architecture (Full Features)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DBCC262-7D59-D452-4F19-FB416CF2A26E}"/>
                  </a:ext>
                </a:extLst>
              </p:cNvPr>
              <p:cNvSpPr txBox="1"/>
              <p:nvPr/>
            </p:nvSpPr>
            <p:spPr>
              <a:xfrm>
                <a:off x="1094111" y="2926854"/>
                <a:ext cx="11466870" cy="13849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2800" b="1" dirty="0"/>
                  <a:t>Input Representation</a:t>
                </a:r>
              </a:p>
              <a:p>
                <a:pPr>
                  <a:buNone/>
                </a:pPr>
                <a:r>
                  <a:rPr lang="en-US" sz="2800" dirty="0"/>
                  <a:t>Let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i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ar-AE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2800" i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ar-AE" sz="2800" i="0"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</m:oMath>
                </a14:m>
                <a:endParaRPr lang="ar-AE" sz="2800" dirty="0"/>
              </a:p>
              <a:p>
                <a:pPr>
                  <a:buNone/>
                </a:pPr>
                <a:r>
                  <a:rPr lang="en-US" sz="2800" dirty="0"/>
                  <a:t>be the standardized input vector (22 biomedical voice features).</a:t>
                </a: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DBCC262-7D59-D452-4F19-FB416CF2A2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4111" y="2926854"/>
                <a:ext cx="11466870" cy="1384995"/>
              </a:xfrm>
              <a:prstGeom prst="rect">
                <a:avLst/>
              </a:prstGeom>
              <a:blipFill>
                <a:blip r:embed="rId8"/>
                <a:stretch>
                  <a:fillRect l="-1063" t="-3965" b="-118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6" name="Picture 25">
            <a:extLst>
              <a:ext uri="{FF2B5EF4-FFF2-40B4-BE49-F238E27FC236}">
                <a16:creationId xmlns:a16="http://schemas.microsoft.com/office/drawing/2014/main" id="{21939B55-1093-164F-2843-CEE8D6AA066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4111" y="4531578"/>
            <a:ext cx="7335274" cy="329611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0FBBA5AD-85A6-48E9-0FB1-6C03E3A5BF7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70875" y="4541993"/>
            <a:ext cx="7373379" cy="329610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D98BB-C07C-F6D1-94EE-52B8D8CB9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115499D-4823-ABEF-6C54-01DF7A1A00D7}"/>
              </a:ext>
            </a:extLst>
          </p:cNvPr>
          <p:cNvSpPr/>
          <p:nvPr/>
        </p:nvSpPr>
        <p:spPr>
          <a:xfrm>
            <a:off x="9583365" y="6257806"/>
            <a:ext cx="10093406" cy="6000989"/>
          </a:xfrm>
          <a:custGeom>
            <a:avLst/>
            <a:gdLst/>
            <a:ahLst/>
            <a:cxnLst/>
            <a:rect l="l" t="t" r="r" b="b"/>
            <a:pathLst>
              <a:path w="10093406" h="6000989">
                <a:moveTo>
                  <a:pt x="0" y="0"/>
                </a:moveTo>
                <a:lnTo>
                  <a:pt x="10093406" y="0"/>
                </a:lnTo>
                <a:lnTo>
                  <a:pt x="10093406" y="6000988"/>
                </a:lnTo>
                <a:lnTo>
                  <a:pt x="0" y="60009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88274459-7847-7BEA-F686-9B0D993E7EE6}"/>
              </a:ext>
            </a:extLst>
          </p:cNvPr>
          <p:cNvSpPr/>
          <p:nvPr/>
        </p:nvSpPr>
        <p:spPr>
          <a:xfrm flipH="1" flipV="1">
            <a:off x="-3265860" y="-1023938"/>
            <a:ext cx="10093406" cy="6000989"/>
          </a:xfrm>
          <a:custGeom>
            <a:avLst/>
            <a:gdLst/>
            <a:ahLst/>
            <a:cxnLst/>
            <a:rect l="l" t="t" r="r" b="b"/>
            <a:pathLst>
              <a:path w="10093406" h="6000989">
                <a:moveTo>
                  <a:pt x="10093406" y="6000989"/>
                </a:moveTo>
                <a:lnTo>
                  <a:pt x="0" y="6000989"/>
                </a:lnTo>
                <a:lnTo>
                  <a:pt x="0" y="0"/>
                </a:lnTo>
                <a:lnTo>
                  <a:pt x="10093406" y="0"/>
                </a:lnTo>
                <a:lnTo>
                  <a:pt x="10093406" y="600098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4320E363-39A9-6118-B54C-39ED6EA824EC}"/>
              </a:ext>
            </a:extLst>
          </p:cNvPr>
          <p:cNvSpPr/>
          <p:nvPr/>
        </p:nvSpPr>
        <p:spPr>
          <a:xfrm rot="-1749240">
            <a:off x="14107833" y="8613248"/>
            <a:ext cx="2252125" cy="1126062"/>
          </a:xfrm>
          <a:custGeom>
            <a:avLst/>
            <a:gdLst/>
            <a:ahLst/>
            <a:cxnLst/>
            <a:rect l="l" t="t" r="r" b="b"/>
            <a:pathLst>
              <a:path w="2252125" h="1126062">
                <a:moveTo>
                  <a:pt x="0" y="0"/>
                </a:moveTo>
                <a:lnTo>
                  <a:pt x="2252124" y="0"/>
                </a:lnTo>
                <a:lnTo>
                  <a:pt x="2252124" y="1126062"/>
                </a:lnTo>
                <a:lnTo>
                  <a:pt x="0" y="11260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4D653F34-F717-2331-B2A7-A9299B263BD0}"/>
              </a:ext>
            </a:extLst>
          </p:cNvPr>
          <p:cNvSpPr/>
          <p:nvPr/>
        </p:nvSpPr>
        <p:spPr>
          <a:xfrm rot="-1749240" flipV="1">
            <a:off x="1905275" y="650043"/>
            <a:ext cx="2128989" cy="1064495"/>
          </a:xfrm>
          <a:custGeom>
            <a:avLst/>
            <a:gdLst/>
            <a:ahLst/>
            <a:cxnLst/>
            <a:rect l="l" t="t" r="r" b="b"/>
            <a:pathLst>
              <a:path w="2128989" h="1064495">
                <a:moveTo>
                  <a:pt x="0" y="1064495"/>
                </a:moveTo>
                <a:lnTo>
                  <a:pt x="2128989" y="1064495"/>
                </a:lnTo>
                <a:lnTo>
                  <a:pt x="2128989" y="0"/>
                </a:lnTo>
                <a:lnTo>
                  <a:pt x="0" y="0"/>
                </a:lnTo>
                <a:lnTo>
                  <a:pt x="0" y="106449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A55867DA-A255-182C-9257-3C5E52FF5350}"/>
              </a:ext>
            </a:extLst>
          </p:cNvPr>
          <p:cNvSpPr/>
          <p:nvPr/>
        </p:nvSpPr>
        <p:spPr>
          <a:xfrm>
            <a:off x="16491586" y="8853488"/>
            <a:ext cx="2364581" cy="2364581"/>
          </a:xfrm>
          <a:custGeom>
            <a:avLst/>
            <a:gdLst/>
            <a:ahLst/>
            <a:cxnLst/>
            <a:rect l="l" t="t" r="r" b="b"/>
            <a:pathLst>
              <a:path w="2364581" h="2364581">
                <a:moveTo>
                  <a:pt x="0" y="0"/>
                </a:moveTo>
                <a:lnTo>
                  <a:pt x="2364581" y="0"/>
                </a:lnTo>
                <a:lnTo>
                  <a:pt x="2364581" y="2364581"/>
                </a:lnTo>
                <a:lnTo>
                  <a:pt x="0" y="23645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6D59FCCE-22BE-0E8C-184E-89C040F080A4}"/>
              </a:ext>
            </a:extLst>
          </p:cNvPr>
          <p:cNvSpPr/>
          <p:nvPr/>
        </p:nvSpPr>
        <p:spPr>
          <a:xfrm>
            <a:off x="-869488" y="-983397"/>
            <a:ext cx="2364581" cy="2364581"/>
          </a:xfrm>
          <a:custGeom>
            <a:avLst/>
            <a:gdLst/>
            <a:ahLst/>
            <a:cxnLst/>
            <a:rect l="l" t="t" r="r" b="b"/>
            <a:pathLst>
              <a:path w="2364581" h="2364581">
                <a:moveTo>
                  <a:pt x="0" y="0"/>
                </a:moveTo>
                <a:lnTo>
                  <a:pt x="2364581" y="0"/>
                </a:lnTo>
                <a:lnTo>
                  <a:pt x="2364581" y="2364582"/>
                </a:lnTo>
                <a:lnTo>
                  <a:pt x="0" y="23645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A48721F2-3FD9-804C-A472-2BDCA30110BC}"/>
              </a:ext>
            </a:extLst>
          </p:cNvPr>
          <p:cNvSpPr txBox="1"/>
          <p:nvPr/>
        </p:nvSpPr>
        <p:spPr>
          <a:xfrm>
            <a:off x="3891464" y="503891"/>
            <a:ext cx="14015535" cy="11291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292"/>
              </a:lnSpc>
            </a:pPr>
            <a:r>
              <a:rPr lang="en-US" sz="3200" b="1" dirty="0">
                <a:solidFill>
                  <a:srgbClr val="03275A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Loss Function, Backpropagation and Gradient Computation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0FA10EE-7B2A-36A1-F69B-C70486EF22F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8799" y="2669459"/>
            <a:ext cx="7668695" cy="101931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FE6AEDF-318F-F920-F68C-D64ACC42861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8799" y="3984256"/>
            <a:ext cx="7668695" cy="149563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F383B81-FC73-07A3-C05D-20E75BCCAAA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8799" y="5991997"/>
            <a:ext cx="7668695" cy="213389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C75B413-CC82-9C7A-A385-ED8D245BF88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44000" y="2923307"/>
            <a:ext cx="7201905" cy="280074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5DE20DFD-C480-CDE5-FBFA-C4A95691107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15400" y="5724048"/>
            <a:ext cx="7992590" cy="218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5218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>
          <a:xfrm>
            <a:off x="16491586" y="8853488"/>
            <a:ext cx="2364581" cy="2364581"/>
          </a:xfrm>
          <a:custGeom>
            <a:avLst/>
            <a:gdLst/>
            <a:ahLst/>
            <a:cxnLst/>
            <a:rect l="l" t="t" r="r" b="b"/>
            <a:pathLst>
              <a:path w="2364581" h="2364581">
                <a:moveTo>
                  <a:pt x="0" y="0"/>
                </a:moveTo>
                <a:lnTo>
                  <a:pt x="2364581" y="0"/>
                </a:lnTo>
                <a:lnTo>
                  <a:pt x="2364581" y="2364581"/>
                </a:lnTo>
                <a:lnTo>
                  <a:pt x="0" y="23645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-869488" y="-983397"/>
            <a:ext cx="2364581" cy="2364581"/>
          </a:xfrm>
          <a:custGeom>
            <a:avLst/>
            <a:gdLst/>
            <a:ahLst/>
            <a:cxnLst/>
            <a:rect l="l" t="t" r="r" b="b"/>
            <a:pathLst>
              <a:path w="2364581" h="2364581">
                <a:moveTo>
                  <a:pt x="0" y="0"/>
                </a:moveTo>
                <a:lnTo>
                  <a:pt x="2364581" y="0"/>
                </a:lnTo>
                <a:lnTo>
                  <a:pt x="2364581" y="2364582"/>
                </a:lnTo>
                <a:lnTo>
                  <a:pt x="0" y="23645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1905000" y="198893"/>
            <a:ext cx="14046524" cy="11984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292"/>
              </a:lnSpc>
            </a:pPr>
            <a:r>
              <a:rPr lang="en-US" sz="5400" b="1" dirty="0">
                <a:solidFill>
                  <a:srgbClr val="03275A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Neural Network Implementation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CC7EBB8-9F59-CE93-AFA8-B61E396CB8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190" y="2810702"/>
            <a:ext cx="6321436" cy="263629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47A5DA4-9D54-A40B-C18D-1A02D1369F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984" y="1564294"/>
            <a:ext cx="9088118" cy="121937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71A397F2-2E9B-FA5B-AA32-1115A8161C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190" y="5474034"/>
            <a:ext cx="5039428" cy="2781688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815555D7-F730-A5D8-9188-5AF9F455050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26327" y="1561836"/>
            <a:ext cx="7401958" cy="6506483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083D3153-9227-DE54-FFA9-EFF104B20B7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91043" y="8691980"/>
            <a:ext cx="7163800" cy="117173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583365" y="6257806"/>
            <a:ext cx="10093406" cy="6000989"/>
          </a:xfrm>
          <a:custGeom>
            <a:avLst/>
            <a:gdLst/>
            <a:ahLst/>
            <a:cxnLst/>
            <a:rect l="l" t="t" r="r" b="b"/>
            <a:pathLst>
              <a:path w="10093406" h="6000989">
                <a:moveTo>
                  <a:pt x="0" y="0"/>
                </a:moveTo>
                <a:lnTo>
                  <a:pt x="10093406" y="0"/>
                </a:lnTo>
                <a:lnTo>
                  <a:pt x="10093406" y="6000988"/>
                </a:lnTo>
                <a:lnTo>
                  <a:pt x="0" y="60009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H="1" flipV="1">
            <a:off x="-3265860" y="-1023938"/>
            <a:ext cx="10093406" cy="6000989"/>
          </a:xfrm>
          <a:custGeom>
            <a:avLst/>
            <a:gdLst/>
            <a:ahLst/>
            <a:cxnLst/>
            <a:rect l="l" t="t" r="r" b="b"/>
            <a:pathLst>
              <a:path w="10093406" h="6000989">
                <a:moveTo>
                  <a:pt x="10093406" y="6000989"/>
                </a:moveTo>
                <a:lnTo>
                  <a:pt x="0" y="6000989"/>
                </a:lnTo>
                <a:lnTo>
                  <a:pt x="0" y="0"/>
                </a:lnTo>
                <a:lnTo>
                  <a:pt x="10093406" y="0"/>
                </a:lnTo>
                <a:lnTo>
                  <a:pt x="10093406" y="600098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-1749240">
            <a:off x="14107833" y="8613248"/>
            <a:ext cx="2252125" cy="1126062"/>
          </a:xfrm>
          <a:custGeom>
            <a:avLst/>
            <a:gdLst/>
            <a:ahLst/>
            <a:cxnLst/>
            <a:rect l="l" t="t" r="r" b="b"/>
            <a:pathLst>
              <a:path w="2252125" h="1126062">
                <a:moveTo>
                  <a:pt x="0" y="0"/>
                </a:moveTo>
                <a:lnTo>
                  <a:pt x="2252124" y="0"/>
                </a:lnTo>
                <a:lnTo>
                  <a:pt x="2252124" y="1126062"/>
                </a:lnTo>
                <a:lnTo>
                  <a:pt x="0" y="11260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rot="-1749240" flipV="1">
            <a:off x="1905275" y="650043"/>
            <a:ext cx="2128989" cy="1064495"/>
          </a:xfrm>
          <a:custGeom>
            <a:avLst/>
            <a:gdLst/>
            <a:ahLst/>
            <a:cxnLst/>
            <a:rect l="l" t="t" r="r" b="b"/>
            <a:pathLst>
              <a:path w="2128989" h="1064495">
                <a:moveTo>
                  <a:pt x="0" y="1064495"/>
                </a:moveTo>
                <a:lnTo>
                  <a:pt x="2128989" y="1064495"/>
                </a:lnTo>
                <a:lnTo>
                  <a:pt x="2128989" y="0"/>
                </a:lnTo>
                <a:lnTo>
                  <a:pt x="0" y="0"/>
                </a:lnTo>
                <a:lnTo>
                  <a:pt x="0" y="106449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6491586" y="8853488"/>
            <a:ext cx="2364581" cy="2364581"/>
          </a:xfrm>
          <a:custGeom>
            <a:avLst/>
            <a:gdLst/>
            <a:ahLst/>
            <a:cxnLst/>
            <a:rect l="l" t="t" r="r" b="b"/>
            <a:pathLst>
              <a:path w="2364581" h="2364581">
                <a:moveTo>
                  <a:pt x="0" y="0"/>
                </a:moveTo>
                <a:lnTo>
                  <a:pt x="2364581" y="0"/>
                </a:lnTo>
                <a:lnTo>
                  <a:pt x="2364581" y="2364581"/>
                </a:lnTo>
                <a:lnTo>
                  <a:pt x="0" y="23645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-869488" y="-983397"/>
            <a:ext cx="2364581" cy="2364581"/>
          </a:xfrm>
          <a:custGeom>
            <a:avLst/>
            <a:gdLst/>
            <a:ahLst/>
            <a:cxnLst/>
            <a:rect l="l" t="t" r="r" b="b"/>
            <a:pathLst>
              <a:path w="2364581" h="2364581">
                <a:moveTo>
                  <a:pt x="0" y="0"/>
                </a:moveTo>
                <a:lnTo>
                  <a:pt x="2364581" y="0"/>
                </a:lnTo>
                <a:lnTo>
                  <a:pt x="2364581" y="2364582"/>
                </a:lnTo>
                <a:lnTo>
                  <a:pt x="0" y="23645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4659624" y="198893"/>
            <a:ext cx="11831962" cy="1477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4800" b="1" dirty="0">
                <a:solidFill>
                  <a:srgbClr val="03275A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Reduced-Feature Neural Network (Concept &amp; Setup)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BA2F6BA-AB9B-1838-1D05-D489FA572535}"/>
                  </a:ext>
                </a:extLst>
              </p:cNvPr>
              <p:cNvSpPr txBox="1"/>
              <p:nvPr/>
            </p:nvSpPr>
            <p:spPr>
              <a:xfrm>
                <a:off x="2054898" y="2159543"/>
                <a:ext cx="12160069" cy="56911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2400" b="1" dirty="0"/>
                  <a:t>Reduced Input Representation</a:t>
                </a:r>
                <a:endParaRPr lang="en-US" sz="2400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2400" dirty="0"/>
                  <a:t>After correlation-based feature selection (Section 6), the input dimensionality is reduced from </a:t>
                </a:r>
                <a:r>
                  <a:rPr lang="en-US" sz="2400" b="1" dirty="0"/>
                  <a:t>22 → 12</a:t>
                </a:r>
                <a:r>
                  <a:rPr lang="en-US" sz="2400" dirty="0"/>
                  <a:t> informative features.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2400" dirty="0"/>
                  <a:t>Each sample is now represented as: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400" b="0" i="1">
                              <a:latin typeface="Cambria Math" panose="02040503050406030204" pitchFamily="18" charset="0"/>
                            </a:rPr>
                            <m:t>red</m:t>
                          </m:r>
                        </m:sub>
                      </m:sSub>
                      <m:r>
                        <a:rPr lang="ar-AE" sz="2400" b="0" i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ar-AE" sz="2400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2400" b="0" i="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ar-AE" sz="2400" b="0" i="0">
                              <a:latin typeface="Cambria Math" panose="02040503050406030204" pitchFamily="18" charset="0"/>
                            </a:rPr>
                            <m:t>12</m:t>
                          </m:r>
                        </m:sup>
                      </m:sSup>
                    </m:oMath>
                  </m:oMathPara>
                </a14:m>
                <a:endParaRPr lang="ar-AE" sz="2400" b="0" dirty="0"/>
              </a:p>
              <a:p>
                <a:pPr>
                  <a:buNone/>
                </a:pPr>
                <a:r>
                  <a:rPr lang="en-US" sz="2400" b="1" dirty="0"/>
                  <a:t>Purpose of the Reduced Model</a:t>
                </a:r>
                <a:endParaRPr lang="en-US" sz="2400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2400" dirty="0"/>
                  <a:t>Evaluate the effect of feature reduction on training efficiency, model complexity, and predictive stability.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2400" dirty="0"/>
                  <a:t>Ensure a fair comparison by keeping the same architecture and same optimization setup as the baseline model—only the input dimensionality changes.</a:t>
                </a:r>
              </a:p>
              <a:p>
                <a:pPr>
                  <a:buNone/>
                </a:pPr>
                <a:r>
                  <a:rPr lang="en-US" sz="2400" b="1" dirty="0"/>
                  <a:t>Implementation Notes</a:t>
                </a:r>
                <a:endParaRPr lang="en-US" sz="2400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2400" dirty="0"/>
                  <a:t>Reduced feature matrices are converted to NumPy before training.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2400" dirty="0"/>
                  <a:t>Same loss, same activation functions, same training loop structure.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2400" dirty="0"/>
                  <a:t>Weight matrices are resized to match the 12-dimensional input: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d>
                            <m:dPr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24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p>
                      <m:r>
                        <a:rPr lang="ar-AE" sz="2400" i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2400" i="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ar-AE" sz="2400" i="0">
                              <a:latin typeface="Cambria Math" panose="02040503050406030204" pitchFamily="18" charset="0"/>
                            </a:rPr>
                            <m:t>16</m:t>
                          </m:r>
                          <m:r>
                            <a:rPr lang="ar-AE" sz="2400" i="0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ar-AE" sz="2400" i="0">
                              <a:latin typeface="Cambria Math" panose="02040503050406030204" pitchFamily="18" charset="0"/>
                            </a:rPr>
                            <m:t>12</m:t>
                          </m:r>
                        </m:sup>
                      </m:sSup>
                    </m:oMath>
                  </m:oMathPara>
                </a14:m>
                <a:endParaRPr lang="ar-AE" sz="2400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BA2F6BA-AB9B-1838-1D05-D489FA5725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4898" y="2159543"/>
                <a:ext cx="12160069" cy="5691173"/>
              </a:xfrm>
              <a:prstGeom prst="rect">
                <a:avLst/>
              </a:prstGeom>
              <a:blipFill>
                <a:blip r:embed="rId8"/>
                <a:stretch>
                  <a:fillRect l="-752" t="-857" r="-2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Picture 15">
            <a:extLst>
              <a:ext uri="{FF2B5EF4-FFF2-40B4-BE49-F238E27FC236}">
                <a16:creationId xmlns:a16="http://schemas.microsoft.com/office/drawing/2014/main" id="{8E6E16DF-494B-D6EC-89A5-F58D2F8866F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54897" y="7850716"/>
            <a:ext cx="10567811" cy="1766467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626E90-3A68-1490-BB47-8E7031FF8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2D913AE-38B2-343B-82BC-87CBE60787B6}"/>
              </a:ext>
            </a:extLst>
          </p:cNvPr>
          <p:cNvSpPr/>
          <p:nvPr/>
        </p:nvSpPr>
        <p:spPr>
          <a:xfrm>
            <a:off x="9583365" y="6257806"/>
            <a:ext cx="10093406" cy="6000989"/>
          </a:xfrm>
          <a:custGeom>
            <a:avLst/>
            <a:gdLst/>
            <a:ahLst/>
            <a:cxnLst/>
            <a:rect l="l" t="t" r="r" b="b"/>
            <a:pathLst>
              <a:path w="10093406" h="6000989">
                <a:moveTo>
                  <a:pt x="0" y="0"/>
                </a:moveTo>
                <a:lnTo>
                  <a:pt x="10093406" y="0"/>
                </a:lnTo>
                <a:lnTo>
                  <a:pt x="10093406" y="6000988"/>
                </a:lnTo>
                <a:lnTo>
                  <a:pt x="0" y="60009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0D121114-D745-88DA-0E70-65974D20486C}"/>
              </a:ext>
            </a:extLst>
          </p:cNvPr>
          <p:cNvSpPr/>
          <p:nvPr/>
        </p:nvSpPr>
        <p:spPr>
          <a:xfrm flipH="1" flipV="1">
            <a:off x="-3265860" y="-1023938"/>
            <a:ext cx="10093406" cy="6000989"/>
          </a:xfrm>
          <a:custGeom>
            <a:avLst/>
            <a:gdLst/>
            <a:ahLst/>
            <a:cxnLst/>
            <a:rect l="l" t="t" r="r" b="b"/>
            <a:pathLst>
              <a:path w="10093406" h="6000989">
                <a:moveTo>
                  <a:pt x="10093406" y="6000989"/>
                </a:moveTo>
                <a:lnTo>
                  <a:pt x="0" y="6000989"/>
                </a:lnTo>
                <a:lnTo>
                  <a:pt x="0" y="0"/>
                </a:lnTo>
                <a:lnTo>
                  <a:pt x="10093406" y="0"/>
                </a:lnTo>
                <a:lnTo>
                  <a:pt x="10093406" y="600098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E6D93C12-8932-FEE2-8EC3-8DCA83F22264}"/>
              </a:ext>
            </a:extLst>
          </p:cNvPr>
          <p:cNvSpPr/>
          <p:nvPr/>
        </p:nvSpPr>
        <p:spPr>
          <a:xfrm rot="-1749240">
            <a:off x="14107833" y="8613248"/>
            <a:ext cx="2252125" cy="1126062"/>
          </a:xfrm>
          <a:custGeom>
            <a:avLst/>
            <a:gdLst/>
            <a:ahLst/>
            <a:cxnLst/>
            <a:rect l="l" t="t" r="r" b="b"/>
            <a:pathLst>
              <a:path w="2252125" h="1126062">
                <a:moveTo>
                  <a:pt x="0" y="0"/>
                </a:moveTo>
                <a:lnTo>
                  <a:pt x="2252124" y="0"/>
                </a:lnTo>
                <a:lnTo>
                  <a:pt x="2252124" y="1126062"/>
                </a:lnTo>
                <a:lnTo>
                  <a:pt x="0" y="11260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D115B467-BFA1-5452-3743-9A25399BFB0E}"/>
              </a:ext>
            </a:extLst>
          </p:cNvPr>
          <p:cNvSpPr/>
          <p:nvPr/>
        </p:nvSpPr>
        <p:spPr>
          <a:xfrm rot="-1749240" flipV="1">
            <a:off x="1905275" y="650043"/>
            <a:ext cx="2128989" cy="1064495"/>
          </a:xfrm>
          <a:custGeom>
            <a:avLst/>
            <a:gdLst/>
            <a:ahLst/>
            <a:cxnLst/>
            <a:rect l="l" t="t" r="r" b="b"/>
            <a:pathLst>
              <a:path w="2128989" h="1064495">
                <a:moveTo>
                  <a:pt x="0" y="1064495"/>
                </a:moveTo>
                <a:lnTo>
                  <a:pt x="2128989" y="1064495"/>
                </a:lnTo>
                <a:lnTo>
                  <a:pt x="2128989" y="0"/>
                </a:lnTo>
                <a:lnTo>
                  <a:pt x="0" y="0"/>
                </a:lnTo>
                <a:lnTo>
                  <a:pt x="0" y="106449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AC07003F-2F94-FD55-1D22-93AE6A0C13B0}"/>
              </a:ext>
            </a:extLst>
          </p:cNvPr>
          <p:cNvSpPr/>
          <p:nvPr/>
        </p:nvSpPr>
        <p:spPr>
          <a:xfrm>
            <a:off x="16491586" y="8853488"/>
            <a:ext cx="2364581" cy="2364581"/>
          </a:xfrm>
          <a:custGeom>
            <a:avLst/>
            <a:gdLst/>
            <a:ahLst/>
            <a:cxnLst/>
            <a:rect l="l" t="t" r="r" b="b"/>
            <a:pathLst>
              <a:path w="2364581" h="2364581">
                <a:moveTo>
                  <a:pt x="0" y="0"/>
                </a:moveTo>
                <a:lnTo>
                  <a:pt x="2364581" y="0"/>
                </a:lnTo>
                <a:lnTo>
                  <a:pt x="2364581" y="2364581"/>
                </a:lnTo>
                <a:lnTo>
                  <a:pt x="0" y="23645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52C77B9B-E033-4616-0A27-BB6C63476A56}"/>
              </a:ext>
            </a:extLst>
          </p:cNvPr>
          <p:cNvSpPr/>
          <p:nvPr/>
        </p:nvSpPr>
        <p:spPr>
          <a:xfrm>
            <a:off x="-869488" y="-983397"/>
            <a:ext cx="2364581" cy="2364581"/>
          </a:xfrm>
          <a:custGeom>
            <a:avLst/>
            <a:gdLst/>
            <a:ahLst/>
            <a:cxnLst/>
            <a:rect l="l" t="t" r="r" b="b"/>
            <a:pathLst>
              <a:path w="2364581" h="2364581">
                <a:moveTo>
                  <a:pt x="0" y="0"/>
                </a:moveTo>
                <a:lnTo>
                  <a:pt x="2364581" y="0"/>
                </a:lnTo>
                <a:lnTo>
                  <a:pt x="2364581" y="2364582"/>
                </a:lnTo>
                <a:lnTo>
                  <a:pt x="0" y="23645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4781634-5984-B17D-22D1-8B2311D45392}"/>
                  </a:ext>
                </a:extLst>
              </p:cNvPr>
              <p:cNvSpPr txBox="1"/>
              <p:nvPr/>
            </p:nvSpPr>
            <p:spPr>
              <a:xfrm>
                <a:off x="2054898" y="2062721"/>
                <a:ext cx="12160069" cy="48221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b="1" dirty="0"/>
                  <a:t>Training Performance Overview</a:t>
                </a:r>
                <a:endParaRPr lang="en-US" sz="2800" dirty="0"/>
              </a:p>
              <a:p>
                <a:r>
                  <a:rPr lang="en-US" sz="2800" dirty="0"/>
                  <a:t>The reduced-feature network shows </a:t>
                </a:r>
                <a:r>
                  <a:rPr lang="en-US" sz="2800" b="1" dirty="0"/>
                  <a:t>stable convergence</a:t>
                </a:r>
                <a:r>
                  <a:rPr lang="en-US" sz="2800" dirty="0"/>
                  <a:t> of both training and validation loss.</a:t>
                </a:r>
              </a:p>
              <a:p>
                <a:r>
                  <a:rPr lang="en-US" sz="2800" dirty="0"/>
                  <a:t>Training and validation accuracy steadily improve throughout epochs.</a:t>
                </a:r>
              </a:p>
              <a:p>
                <a:r>
                  <a:rPr lang="en-US" sz="2800" dirty="0"/>
                  <a:t>Final validation accuracy reaches approximately: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800" b="0"/>
                        <m:t>Val</m:t>
                      </m:r>
                      <m:r>
                        <m:rPr>
                          <m:nor/>
                        </m:rPr>
                        <a:rPr lang="en-US" sz="2800" b="0" i="1"/>
                        <m:t> </m:t>
                      </m:r>
                      <m:r>
                        <m:rPr>
                          <m:nor/>
                        </m:rPr>
                        <a:rPr lang="en-US" sz="2800" b="0" i="1"/>
                        <m:t>Acc</m:t>
                      </m:r>
                      <m:r>
                        <a:rPr lang="en-US" sz="2000"/>
                        <m:t>≈0.75</m:t>
                      </m:r>
                    </m:oMath>
                  </m:oMathPara>
                </a14:m>
                <a:endParaRPr lang="en-US" sz="2800" b="0" dirty="0"/>
              </a:p>
              <a:p>
                <a:r>
                  <a:rPr lang="en-US" sz="2800" b="1" dirty="0"/>
                  <a:t>Key Takeaways (Compared to Full-Feature Model)</a:t>
                </a:r>
                <a:endParaRPr lang="en-US" sz="2800" dirty="0"/>
              </a:p>
              <a:p>
                <a:r>
                  <a:rPr lang="en-US" sz="2800" dirty="0"/>
                  <a:t>Similar accuracy trends despite using </a:t>
                </a:r>
                <a:r>
                  <a:rPr lang="en-US" sz="2800" b="1" dirty="0"/>
                  <a:t>45% fewer input features</a:t>
                </a:r>
                <a:r>
                  <a:rPr lang="en-US" sz="2800" dirty="0"/>
                  <a:t>.</a:t>
                </a:r>
              </a:p>
              <a:p>
                <a:r>
                  <a:rPr lang="en-US" sz="2800" dirty="0"/>
                  <a:t>Slight improvements in training speed and computational cost due to lower dimensionality.</a:t>
                </a:r>
              </a:p>
              <a:p>
                <a:r>
                  <a:rPr lang="en-US" sz="2800" dirty="0"/>
                  <a:t>Indicates strong feature redundancy in the original 22-feature dataset.</a:t>
                </a: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4781634-5984-B17D-22D1-8B2311D453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4898" y="2062721"/>
                <a:ext cx="12160069" cy="4822154"/>
              </a:xfrm>
              <a:prstGeom prst="rect">
                <a:avLst/>
              </a:prstGeom>
              <a:blipFill>
                <a:blip r:embed="rId8"/>
                <a:stretch>
                  <a:fillRect l="-1003" t="-1138" b="-2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1485CC29-D1DA-90DC-E864-87C0E0E13B6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54897" y="7023436"/>
            <a:ext cx="12047044" cy="208054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75ADDB6-3456-46FE-B53E-504F63B9A322}"/>
              </a:ext>
            </a:extLst>
          </p:cNvPr>
          <p:cNvSpPr txBox="1"/>
          <p:nvPr/>
        </p:nvSpPr>
        <p:spPr>
          <a:xfrm>
            <a:off x="5410200" y="254699"/>
            <a:ext cx="1146687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03275A"/>
                </a:solidFill>
                <a:effectLst/>
                <a:uLnTx/>
                <a:uFillTx/>
                <a:latin typeface="Nunito Sans Bold"/>
                <a:ea typeface="Nunito Sans Bold"/>
                <a:cs typeface="Nunito Sans Bold"/>
                <a:sym typeface="Nunito Sans Bold"/>
              </a:rPr>
              <a:t>Training Behavior &amp; Performance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03275A"/>
                </a:solidFill>
                <a:effectLst/>
                <a:uLnTx/>
                <a:uFillTx/>
                <a:latin typeface="Nunito Sans Bold"/>
                <a:ea typeface="Nunito Sans Bold"/>
                <a:cs typeface="Nunito Sans Bold"/>
                <a:sym typeface="Nunito Sans Bold"/>
              </a:rPr>
              <a:t>(Reduced Features)</a:t>
            </a:r>
          </a:p>
        </p:txBody>
      </p:sp>
    </p:spTree>
    <p:extLst>
      <p:ext uri="{BB962C8B-B14F-4D97-AF65-F5344CB8AC3E}">
        <p14:creationId xmlns:p14="http://schemas.microsoft.com/office/powerpoint/2010/main" val="20956170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5EE138-1945-AA85-D57B-1B2607499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BB93420-D061-B708-42F6-88462DDBDE1E}"/>
              </a:ext>
            </a:extLst>
          </p:cNvPr>
          <p:cNvSpPr/>
          <p:nvPr/>
        </p:nvSpPr>
        <p:spPr>
          <a:xfrm>
            <a:off x="9583365" y="6257806"/>
            <a:ext cx="10093406" cy="6000989"/>
          </a:xfrm>
          <a:custGeom>
            <a:avLst/>
            <a:gdLst/>
            <a:ahLst/>
            <a:cxnLst/>
            <a:rect l="l" t="t" r="r" b="b"/>
            <a:pathLst>
              <a:path w="10093406" h="6000989">
                <a:moveTo>
                  <a:pt x="0" y="0"/>
                </a:moveTo>
                <a:lnTo>
                  <a:pt x="10093406" y="0"/>
                </a:lnTo>
                <a:lnTo>
                  <a:pt x="10093406" y="6000988"/>
                </a:lnTo>
                <a:lnTo>
                  <a:pt x="0" y="60009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6F47EFAC-3BE4-7597-BB01-86F592403961}"/>
              </a:ext>
            </a:extLst>
          </p:cNvPr>
          <p:cNvSpPr/>
          <p:nvPr/>
        </p:nvSpPr>
        <p:spPr>
          <a:xfrm flipH="1" flipV="1">
            <a:off x="-3265860" y="-1023938"/>
            <a:ext cx="10093406" cy="6000989"/>
          </a:xfrm>
          <a:custGeom>
            <a:avLst/>
            <a:gdLst/>
            <a:ahLst/>
            <a:cxnLst/>
            <a:rect l="l" t="t" r="r" b="b"/>
            <a:pathLst>
              <a:path w="10093406" h="6000989">
                <a:moveTo>
                  <a:pt x="10093406" y="6000989"/>
                </a:moveTo>
                <a:lnTo>
                  <a:pt x="0" y="6000989"/>
                </a:lnTo>
                <a:lnTo>
                  <a:pt x="0" y="0"/>
                </a:lnTo>
                <a:lnTo>
                  <a:pt x="10093406" y="0"/>
                </a:lnTo>
                <a:lnTo>
                  <a:pt x="10093406" y="600098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430A9EA8-4AE5-8A02-1DFC-ABF71B4C1B71}"/>
              </a:ext>
            </a:extLst>
          </p:cNvPr>
          <p:cNvSpPr/>
          <p:nvPr/>
        </p:nvSpPr>
        <p:spPr>
          <a:xfrm rot="-1749240">
            <a:off x="14107833" y="8613248"/>
            <a:ext cx="2252125" cy="1126062"/>
          </a:xfrm>
          <a:custGeom>
            <a:avLst/>
            <a:gdLst/>
            <a:ahLst/>
            <a:cxnLst/>
            <a:rect l="l" t="t" r="r" b="b"/>
            <a:pathLst>
              <a:path w="2252125" h="1126062">
                <a:moveTo>
                  <a:pt x="0" y="0"/>
                </a:moveTo>
                <a:lnTo>
                  <a:pt x="2252124" y="0"/>
                </a:lnTo>
                <a:lnTo>
                  <a:pt x="2252124" y="1126062"/>
                </a:lnTo>
                <a:lnTo>
                  <a:pt x="0" y="11260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828DF6BE-9B8A-8B5D-4AD7-B71557482E61}"/>
              </a:ext>
            </a:extLst>
          </p:cNvPr>
          <p:cNvSpPr/>
          <p:nvPr/>
        </p:nvSpPr>
        <p:spPr>
          <a:xfrm rot="-1749240" flipV="1">
            <a:off x="1905275" y="650043"/>
            <a:ext cx="2128989" cy="1064495"/>
          </a:xfrm>
          <a:custGeom>
            <a:avLst/>
            <a:gdLst/>
            <a:ahLst/>
            <a:cxnLst/>
            <a:rect l="l" t="t" r="r" b="b"/>
            <a:pathLst>
              <a:path w="2128989" h="1064495">
                <a:moveTo>
                  <a:pt x="0" y="1064495"/>
                </a:moveTo>
                <a:lnTo>
                  <a:pt x="2128989" y="1064495"/>
                </a:lnTo>
                <a:lnTo>
                  <a:pt x="2128989" y="0"/>
                </a:lnTo>
                <a:lnTo>
                  <a:pt x="0" y="0"/>
                </a:lnTo>
                <a:lnTo>
                  <a:pt x="0" y="106449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9DF62C8D-3445-FB8A-5913-E5F4F0A16737}"/>
              </a:ext>
            </a:extLst>
          </p:cNvPr>
          <p:cNvSpPr/>
          <p:nvPr/>
        </p:nvSpPr>
        <p:spPr>
          <a:xfrm>
            <a:off x="16491586" y="8853488"/>
            <a:ext cx="2364581" cy="2364581"/>
          </a:xfrm>
          <a:custGeom>
            <a:avLst/>
            <a:gdLst/>
            <a:ahLst/>
            <a:cxnLst/>
            <a:rect l="l" t="t" r="r" b="b"/>
            <a:pathLst>
              <a:path w="2364581" h="2364581">
                <a:moveTo>
                  <a:pt x="0" y="0"/>
                </a:moveTo>
                <a:lnTo>
                  <a:pt x="2364581" y="0"/>
                </a:lnTo>
                <a:lnTo>
                  <a:pt x="2364581" y="2364581"/>
                </a:lnTo>
                <a:lnTo>
                  <a:pt x="0" y="23645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DA036810-C760-BC05-7073-84B6E0F6DDC1}"/>
              </a:ext>
            </a:extLst>
          </p:cNvPr>
          <p:cNvSpPr/>
          <p:nvPr/>
        </p:nvSpPr>
        <p:spPr>
          <a:xfrm>
            <a:off x="-869488" y="-983397"/>
            <a:ext cx="2364581" cy="2364581"/>
          </a:xfrm>
          <a:custGeom>
            <a:avLst/>
            <a:gdLst/>
            <a:ahLst/>
            <a:cxnLst/>
            <a:rect l="l" t="t" r="r" b="b"/>
            <a:pathLst>
              <a:path w="2364581" h="2364581">
                <a:moveTo>
                  <a:pt x="0" y="0"/>
                </a:moveTo>
                <a:lnTo>
                  <a:pt x="2364581" y="0"/>
                </a:lnTo>
                <a:lnTo>
                  <a:pt x="2364581" y="2364582"/>
                </a:lnTo>
                <a:lnTo>
                  <a:pt x="0" y="23645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ECD240F-25CA-1D14-250B-5DF923C2D54D}"/>
              </a:ext>
            </a:extLst>
          </p:cNvPr>
          <p:cNvSpPr txBox="1"/>
          <p:nvPr/>
        </p:nvSpPr>
        <p:spPr>
          <a:xfrm>
            <a:off x="2209800" y="2165688"/>
            <a:ext cx="1146687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Why Compare Sustainability?</a:t>
            </a:r>
            <a:br>
              <a:rPr lang="en-US" sz="2800" dirty="0"/>
            </a:br>
            <a:r>
              <a:rPr lang="en-US" sz="2800" dirty="0"/>
              <a:t>Reducing input dimensionality directly decreases computational cost without altering the network architecture.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5DC36AA0-95DD-3F42-7079-48181C1567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3894621"/>
              </p:ext>
            </p:extLst>
          </p:nvPr>
        </p:nvGraphicFramePr>
        <p:xfrm>
          <a:off x="2362200" y="3569194"/>
          <a:ext cx="11466872" cy="3206494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866718">
                  <a:extLst>
                    <a:ext uri="{9D8B030D-6E8A-4147-A177-3AD203B41FA5}">
                      <a16:colId xmlns:a16="http://schemas.microsoft.com/office/drawing/2014/main" val="1195171458"/>
                    </a:ext>
                  </a:extLst>
                </a:gridCol>
                <a:gridCol w="2866718">
                  <a:extLst>
                    <a:ext uri="{9D8B030D-6E8A-4147-A177-3AD203B41FA5}">
                      <a16:colId xmlns:a16="http://schemas.microsoft.com/office/drawing/2014/main" val="1722655649"/>
                    </a:ext>
                  </a:extLst>
                </a:gridCol>
                <a:gridCol w="2866718">
                  <a:extLst>
                    <a:ext uri="{9D8B030D-6E8A-4147-A177-3AD203B41FA5}">
                      <a16:colId xmlns:a16="http://schemas.microsoft.com/office/drawing/2014/main" val="486304058"/>
                    </a:ext>
                  </a:extLst>
                </a:gridCol>
                <a:gridCol w="2866718">
                  <a:extLst>
                    <a:ext uri="{9D8B030D-6E8A-4147-A177-3AD203B41FA5}">
                      <a16:colId xmlns:a16="http://schemas.microsoft.com/office/drawing/2014/main" val="1165613122"/>
                    </a:ext>
                  </a:extLst>
                </a:gridCol>
              </a:tblGrid>
              <a:tr h="10306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Component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Formula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Full Model (d = 22)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Reduced Model (d = 12)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2683311"/>
                  </a:ext>
                </a:extLst>
              </a:tr>
              <a:tr h="10306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Input → Hidden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(16d + 16)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i-FI" sz="2400"/>
                        <a:t>(16 \cdot 22 + 16 = 352 + 16 = 368)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i-FI" sz="2400"/>
                        <a:t>(16 \cdot 12 + 16 = 192 + 16 = 208)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9942637"/>
                  </a:ext>
                </a:extLst>
              </a:tr>
              <a:tr h="5725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Hidden → Output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(16 + 1 = 17)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17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2375761"/>
                  </a:ext>
                </a:extLst>
              </a:tr>
              <a:tr h="5725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/>
                        <a:t>Total Parameters</a:t>
                      </a:r>
                      <a:endParaRPr 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/>
                        <a:t>385</a:t>
                      </a:r>
                      <a:endParaRPr 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/>
                        <a:t>225</a:t>
                      </a:r>
                      <a:endParaRPr lang="en-US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5239497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F89029D-D36B-40A0-A153-DFFDEBED2828}"/>
                  </a:ext>
                </a:extLst>
              </p:cNvPr>
              <p:cNvSpPr txBox="1"/>
              <p:nvPr/>
            </p:nvSpPr>
            <p:spPr>
              <a:xfrm>
                <a:off x="2209800" y="6951814"/>
                <a:ext cx="11619272" cy="19016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2400" b="1" dirty="0"/>
                  <a:t>Parameter Reduction:</a:t>
                </a:r>
                <a:endParaRPr lang="en-US" sz="2400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385</m:t>
                          </m:r>
                          <m:r>
                            <a:rPr lang="ar-AE" sz="2400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sz="2400" i="0">
                              <a:latin typeface="Cambria Math" panose="02040503050406030204" pitchFamily="18" charset="0"/>
                            </a:rPr>
                            <m:t>225</m:t>
                          </m:r>
                        </m:num>
                        <m:den>
                          <m:r>
                            <a:rPr lang="ar-AE" sz="2400" i="0">
                              <a:latin typeface="Cambria Math" panose="02040503050406030204" pitchFamily="18" charset="0"/>
                            </a:rPr>
                            <m:t>385</m:t>
                          </m:r>
                        </m:den>
                      </m:f>
                      <m:r>
                        <a:rPr lang="ar-AE" sz="2400" i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ar-AE" sz="2400" i="0">
                          <a:latin typeface="Cambria Math" panose="02040503050406030204" pitchFamily="18" charset="0"/>
                        </a:rPr>
                        <m:t>100</m:t>
                      </m:r>
                      <m:r>
                        <a:rPr lang="ar-AE" sz="2400" i="0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ar-AE" sz="2400" i="0">
                          <a:latin typeface="Cambria Math" panose="02040503050406030204" pitchFamily="18" charset="0"/>
                        </a:rPr>
                        <m:t>41</m:t>
                      </m:r>
                      <m:r>
                        <a:rPr lang="ar-AE" sz="2400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sz="2400" i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ar-AE" sz="2400" i="0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ar-AE" sz="2400" dirty="0"/>
              </a:p>
              <a:p>
                <a:pPr>
                  <a:buNone/>
                </a:pPr>
                <a:r>
                  <a:rPr lang="en-US" sz="2400" dirty="0"/>
                  <a:t>A </a:t>
                </a:r>
                <a:r>
                  <a:rPr lang="en-US" sz="2400" b="1" dirty="0"/>
                  <a:t>42% decrease</a:t>
                </a:r>
                <a:r>
                  <a:rPr lang="en-US" sz="2400" dirty="0"/>
                  <a:t> in trainable parameters directly lowers memory usage, computational load, and energy consumption.</a:t>
                </a: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F89029D-D36B-40A0-A153-DFFDEBED28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9800" y="6951814"/>
                <a:ext cx="11619272" cy="1901674"/>
              </a:xfrm>
              <a:prstGeom prst="rect">
                <a:avLst/>
              </a:prstGeom>
              <a:blipFill>
                <a:blip r:embed="rId8"/>
                <a:stretch>
                  <a:fillRect l="-839" t="-2564" r="-472" b="-64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DB71707C-854D-1C85-3FA9-7A375432E6BB}"/>
              </a:ext>
            </a:extLst>
          </p:cNvPr>
          <p:cNvSpPr txBox="1"/>
          <p:nvPr/>
        </p:nvSpPr>
        <p:spPr>
          <a:xfrm>
            <a:off x="4876800" y="550187"/>
            <a:ext cx="1146687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03275A"/>
                </a:solidFill>
                <a:effectLst/>
                <a:uLnTx/>
                <a:uFillTx/>
                <a:latin typeface="Nunito Sans Bold"/>
                <a:ea typeface="Nunito Sans Bold"/>
                <a:cs typeface="Nunito Sans Bold"/>
                <a:sym typeface="Nunito Sans Bold"/>
              </a:rPr>
              <a:t>Quantitative Sustainability Analysis</a:t>
            </a:r>
          </a:p>
        </p:txBody>
      </p:sp>
    </p:spTree>
    <p:extLst>
      <p:ext uri="{BB962C8B-B14F-4D97-AF65-F5344CB8AC3E}">
        <p14:creationId xmlns:p14="http://schemas.microsoft.com/office/powerpoint/2010/main" val="31728824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9BEE7D-6BAE-B163-4E8F-8DF5EF22A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6A72016-8EEA-29BF-55F3-5B1F162246E8}"/>
              </a:ext>
            </a:extLst>
          </p:cNvPr>
          <p:cNvSpPr/>
          <p:nvPr/>
        </p:nvSpPr>
        <p:spPr>
          <a:xfrm>
            <a:off x="9583365" y="6257806"/>
            <a:ext cx="10093406" cy="6000989"/>
          </a:xfrm>
          <a:custGeom>
            <a:avLst/>
            <a:gdLst/>
            <a:ahLst/>
            <a:cxnLst/>
            <a:rect l="l" t="t" r="r" b="b"/>
            <a:pathLst>
              <a:path w="10093406" h="6000989">
                <a:moveTo>
                  <a:pt x="0" y="0"/>
                </a:moveTo>
                <a:lnTo>
                  <a:pt x="10093406" y="0"/>
                </a:lnTo>
                <a:lnTo>
                  <a:pt x="10093406" y="6000988"/>
                </a:lnTo>
                <a:lnTo>
                  <a:pt x="0" y="60009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738F3FDC-F1F4-7726-6F66-8FBDE2188A23}"/>
              </a:ext>
            </a:extLst>
          </p:cNvPr>
          <p:cNvSpPr/>
          <p:nvPr/>
        </p:nvSpPr>
        <p:spPr>
          <a:xfrm flipH="1" flipV="1">
            <a:off x="-3265860" y="-1023938"/>
            <a:ext cx="10093406" cy="6000989"/>
          </a:xfrm>
          <a:custGeom>
            <a:avLst/>
            <a:gdLst/>
            <a:ahLst/>
            <a:cxnLst/>
            <a:rect l="l" t="t" r="r" b="b"/>
            <a:pathLst>
              <a:path w="10093406" h="6000989">
                <a:moveTo>
                  <a:pt x="10093406" y="6000989"/>
                </a:moveTo>
                <a:lnTo>
                  <a:pt x="0" y="6000989"/>
                </a:lnTo>
                <a:lnTo>
                  <a:pt x="0" y="0"/>
                </a:lnTo>
                <a:lnTo>
                  <a:pt x="10093406" y="0"/>
                </a:lnTo>
                <a:lnTo>
                  <a:pt x="10093406" y="600098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8AC161E6-DEC0-DBF3-2240-10ADA3889E27}"/>
              </a:ext>
            </a:extLst>
          </p:cNvPr>
          <p:cNvSpPr/>
          <p:nvPr/>
        </p:nvSpPr>
        <p:spPr>
          <a:xfrm rot="-1749240">
            <a:off x="14107833" y="8613248"/>
            <a:ext cx="2252125" cy="1126062"/>
          </a:xfrm>
          <a:custGeom>
            <a:avLst/>
            <a:gdLst/>
            <a:ahLst/>
            <a:cxnLst/>
            <a:rect l="l" t="t" r="r" b="b"/>
            <a:pathLst>
              <a:path w="2252125" h="1126062">
                <a:moveTo>
                  <a:pt x="0" y="0"/>
                </a:moveTo>
                <a:lnTo>
                  <a:pt x="2252124" y="0"/>
                </a:lnTo>
                <a:lnTo>
                  <a:pt x="2252124" y="1126062"/>
                </a:lnTo>
                <a:lnTo>
                  <a:pt x="0" y="11260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C2F66A50-1D90-3881-F6F3-9DA6F6079217}"/>
              </a:ext>
            </a:extLst>
          </p:cNvPr>
          <p:cNvSpPr/>
          <p:nvPr/>
        </p:nvSpPr>
        <p:spPr>
          <a:xfrm rot="-1749240" flipV="1">
            <a:off x="1905275" y="650043"/>
            <a:ext cx="2128989" cy="1064495"/>
          </a:xfrm>
          <a:custGeom>
            <a:avLst/>
            <a:gdLst/>
            <a:ahLst/>
            <a:cxnLst/>
            <a:rect l="l" t="t" r="r" b="b"/>
            <a:pathLst>
              <a:path w="2128989" h="1064495">
                <a:moveTo>
                  <a:pt x="0" y="1064495"/>
                </a:moveTo>
                <a:lnTo>
                  <a:pt x="2128989" y="1064495"/>
                </a:lnTo>
                <a:lnTo>
                  <a:pt x="2128989" y="0"/>
                </a:lnTo>
                <a:lnTo>
                  <a:pt x="0" y="0"/>
                </a:lnTo>
                <a:lnTo>
                  <a:pt x="0" y="106449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A25DB805-5A62-568C-57E7-D382ED34DCE3}"/>
              </a:ext>
            </a:extLst>
          </p:cNvPr>
          <p:cNvSpPr/>
          <p:nvPr/>
        </p:nvSpPr>
        <p:spPr>
          <a:xfrm>
            <a:off x="16491586" y="8853488"/>
            <a:ext cx="2364581" cy="2364581"/>
          </a:xfrm>
          <a:custGeom>
            <a:avLst/>
            <a:gdLst/>
            <a:ahLst/>
            <a:cxnLst/>
            <a:rect l="l" t="t" r="r" b="b"/>
            <a:pathLst>
              <a:path w="2364581" h="2364581">
                <a:moveTo>
                  <a:pt x="0" y="0"/>
                </a:moveTo>
                <a:lnTo>
                  <a:pt x="2364581" y="0"/>
                </a:lnTo>
                <a:lnTo>
                  <a:pt x="2364581" y="2364581"/>
                </a:lnTo>
                <a:lnTo>
                  <a:pt x="0" y="23645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DFE40D44-B696-7D3E-C53F-94CC7DB3C7E0}"/>
              </a:ext>
            </a:extLst>
          </p:cNvPr>
          <p:cNvSpPr/>
          <p:nvPr/>
        </p:nvSpPr>
        <p:spPr>
          <a:xfrm>
            <a:off x="-869488" y="-983397"/>
            <a:ext cx="2364581" cy="2364581"/>
          </a:xfrm>
          <a:custGeom>
            <a:avLst/>
            <a:gdLst/>
            <a:ahLst/>
            <a:cxnLst/>
            <a:rect l="l" t="t" r="r" b="b"/>
            <a:pathLst>
              <a:path w="2364581" h="2364581">
                <a:moveTo>
                  <a:pt x="0" y="0"/>
                </a:moveTo>
                <a:lnTo>
                  <a:pt x="2364581" y="0"/>
                </a:lnTo>
                <a:lnTo>
                  <a:pt x="2364581" y="2364582"/>
                </a:lnTo>
                <a:lnTo>
                  <a:pt x="0" y="23645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B150B44-E8AF-83B4-F26D-76B944F9AD17}"/>
              </a:ext>
            </a:extLst>
          </p:cNvPr>
          <p:cNvSpPr txBox="1"/>
          <p:nvPr/>
        </p:nvSpPr>
        <p:spPr>
          <a:xfrm>
            <a:off x="2186533" y="2012466"/>
            <a:ext cx="12160069" cy="79714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Accuracy Comparison (Validation):</a:t>
            </a:r>
            <a:endParaRPr lang="en-US" sz="3200" dirty="0"/>
          </a:p>
          <a:p>
            <a:r>
              <a:rPr lang="en-US" sz="3200" b="1" dirty="0"/>
              <a:t>Full-feature model:</a:t>
            </a:r>
            <a:r>
              <a:rPr lang="en-US" sz="3200" dirty="0"/>
              <a:t> 78.6%</a:t>
            </a:r>
          </a:p>
          <a:p>
            <a:r>
              <a:rPr lang="en-US" sz="3200" b="1" dirty="0"/>
              <a:t>Reduced-feature model:</a:t>
            </a:r>
            <a:r>
              <a:rPr lang="en-US" sz="3200" dirty="0"/>
              <a:t> 75.0%</a:t>
            </a:r>
          </a:p>
          <a:p>
            <a:r>
              <a:rPr lang="en-US" sz="3200" dirty="0"/>
              <a:t>A small drop in accuracy is offset by large sustainability gains:</a:t>
            </a:r>
          </a:p>
          <a:p>
            <a:r>
              <a:rPr lang="en-US" sz="3200" b="1" dirty="0"/>
              <a:t>Efficiency Improvements</a:t>
            </a:r>
            <a:endParaRPr lang="en-US" sz="3200" dirty="0"/>
          </a:p>
          <a:p>
            <a:r>
              <a:rPr lang="en-US" sz="3200" b="1" dirty="0"/>
              <a:t>42% fewer parameters</a:t>
            </a:r>
            <a:r>
              <a:rPr lang="en-US" sz="3200" dirty="0"/>
              <a:t> → smaller memory footprint.</a:t>
            </a:r>
          </a:p>
          <a:p>
            <a:r>
              <a:rPr lang="en-US" sz="3200" b="1" dirty="0"/>
              <a:t>Faster forward/backward passes</a:t>
            </a:r>
            <a:r>
              <a:rPr lang="en-US" sz="3200" dirty="0"/>
              <a:t> → lower computational and energy cost per epoch.</a:t>
            </a:r>
          </a:p>
          <a:p>
            <a:r>
              <a:rPr lang="en-US" sz="3200" b="1" dirty="0"/>
              <a:t>Lower computation per iteration</a:t>
            </a:r>
            <a:r>
              <a:rPr lang="en-US" sz="3200" dirty="0"/>
              <a:t> → more scalable and deployment-friendly.</a:t>
            </a:r>
          </a:p>
          <a:p>
            <a:r>
              <a:rPr lang="en-US" sz="3200" b="1" dirty="0"/>
              <a:t>Key Insight</a:t>
            </a:r>
            <a:br>
              <a:rPr lang="en-US" sz="3200" dirty="0"/>
            </a:br>
            <a:r>
              <a:rPr lang="en-US" sz="3200" dirty="0"/>
              <a:t>Because both models share identical architecture and hyperparameters, improvements come </a:t>
            </a:r>
            <a:r>
              <a:rPr lang="en-US" sz="3200" b="1" dirty="0"/>
              <a:t>solely from reduced input dimensionality</a:t>
            </a:r>
            <a:r>
              <a:rPr lang="en-US" sz="3200" dirty="0"/>
              <a:t>.</a:t>
            </a:r>
            <a:br>
              <a:rPr lang="en-US" sz="3200" dirty="0"/>
            </a:br>
            <a:r>
              <a:rPr lang="en-US" sz="3200" dirty="0"/>
              <a:t>The reduced-feature model is a </a:t>
            </a:r>
            <a:r>
              <a:rPr lang="en-US" sz="3200" b="1" dirty="0"/>
              <a:t>more sustainable alternative</a:t>
            </a:r>
            <a:r>
              <a:rPr lang="en-US" sz="3200" dirty="0"/>
              <a:t> that retains most predictive performance while significantly lowering computational cost.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32AEB2-A4B4-0CE7-A8B1-380C3F5946EE}"/>
              </a:ext>
            </a:extLst>
          </p:cNvPr>
          <p:cNvSpPr txBox="1"/>
          <p:nvPr/>
        </p:nvSpPr>
        <p:spPr>
          <a:xfrm>
            <a:off x="5040287" y="351293"/>
            <a:ext cx="1146687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03275A"/>
                </a:solidFill>
                <a:effectLst/>
                <a:uLnTx/>
                <a:uFillTx/>
                <a:latin typeface="Nunito Sans Bold"/>
                <a:ea typeface="Nunito Sans Bold"/>
                <a:cs typeface="Nunito Sans Bold"/>
                <a:sym typeface="Nunito Sans Bold"/>
              </a:rPr>
              <a:t>Sustainability Impact &amp; Interpretation</a:t>
            </a:r>
          </a:p>
        </p:txBody>
      </p:sp>
    </p:spTree>
    <p:extLst>
      <p:ext uri="{BB962C8B-B14F-4D97-AF65-F5344CB8AC3E}">
        <p14:creationId xmlns:p14="http://schemas.microsoft.com/office/powerpoint/2010/main" val="21136529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583365" y="6257806"/>
            <a:ext cx="10093406" cy="6000989"/>
          </a:xfrm>
          <a:custGeom>
            <a:avLst/>
            <a:gdLst/>
            <a:ahLst/>
            <a:cxnLst/>
            <a:rect l="l" t="t" r="r" b="b"/>
            <a:pathLst>
              <a:path w="10093406" h="6000989">
                <a:moveTo>
                  <a:pt x="0" y="0"/>
                </a:moveTo>
                <a:lnTo>
                  <a:pt x="10093406" y="0"/>
                </a:lnTo>
                <a:lnTo>
                  <a:pt x="10093406" y="6000988"/>
                </a:lnTo>
                <a:lnTo>
                  <a:pt x="0" y="60009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H="1" flipV="1">
            <a:off x="-3265860" y="-1086089"/>
            <a:ext cx="10093406" cy="6000989"/>
          </a:xfrm>
          <a:custGeom>
            <a:avLst/>
            <a:gdLst/>
            <a:ahLst/>
            <a:cxnLst/>
            <a:rect l="l" t="t" r="r" b="b"/>
            <a:pathLst>
              <a:path w="10093406" h="6000989">
                <a:moveTo>
                  <a:pt x="10093406" y="6000989"/>
                </a:moveTo>
                <a:lnTo>
                  <a:pt x="0" y="6000989"/>
                </a:lnTo>
                <a:lnTo>
                  <a:pt x="0" y="0"/>
                </a:lnTo>
                <a:lnTo>
                  <a:pt x="10093406" y="0"/>
                </a:lnTo>
                <a:lnTo>
                  <a:pt x="10093406" y="600098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-1749240">
            <a:off x="14107833" y="8613248"/>
            <a:ext cx="2252125" cy="1126062"/>
          </a:xfrm>
          <a:custGeom>
            <a:avLst/>
            <a:gdLst/>
            <a:ahLst/>
            <a:cxnLst/>
            <a:rect l="l" t="t" r="r" b="b"/>
            <a:pathLst>
              <a:path w="2252125" h="1126062">
                <a:moveTo>
                  <a:pt x="0" y="0"/>
                </a:moveTo>
                <a:lnTo>
                  <a:pt x="2252124" y="0"/>
                </a:lnTo>
                <a:lnTo>
                  <a:pt x="2252124" y="1126062"/>
                </a:lnTo>
                <a:lnTo>
                  <a:pt x="0" y="11260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rot="-1749240" flipV="1">
            <a:off x="1905275" y="650043"/>
            <a:ext cx="2128989" cy="1064495"/>
          </a:xfrm>
          <a:custGeom>
            <a:avLst/>
            <a:gdLst/>
            <a:ahLst/>
            <a:cxnLst/>
            <a:rect l="l" t="t" r="r" b="b"/>
            <a:pathLst>
              <a:path w="2128989" h="1064495">
                <a:moveTo>
                  <a:pt x="0" y="1064495"/>
                </a:moveTo>
                <a:lnTo>
                  <a:pt x="2128989" y="1064495"/>
                </a:lnTo>
                <a:lnTo>
                  <a:pt x="2128989" y="0"/>
                </a:lnTo>
                <a:lnTo>
                  <a:pt x="0" y="0"/>
                </a:lnTo>
                <a:lnTo>
                  <a:pt x="0" y="106449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6491586" y="8853488"/>
            <a:ext cx="2364581" cy="2364581"/>
          </a:xfrm>
          <a:custGeom>
            <a:avLst/>
            <a:gdLst/>
            <a:ahLst/>
            <a:cxnLst/>
            <a:rect l="l" t="t" r="r" b="b"/>
            <a:pathLst>
              <a:path w="2364581" h="2364581">
                <a:moveTo>
                  <a:pt x="0" y="0"/>
                </a:moveTo>
                <a:lnTo>
                  <a:pt x="2364581" y="0"/>
                </a:lnTo>
                <a:lnTo>
                  <a:pt x="2364581" y="2364581"/>
                </a:lnTo>
                <a:lnTo>
                  <a:pt x="0" y="23645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-869488" y="-983397"/>
            <a:ext cx="2364581" cy="2364581"/>
          </a:xfrm>
          <a:custGeom>
            <a:avLst/>
            <a:gdLst/>
            <a:ahLst/>
            <a:cxnLst/>
            <a:rect l="l" t="t" r="r" b="b"/>
            <a:pathLst>
              <a:path w="2364581" h="2364581">
                <a:moveTo>
                  <a:pt x="0" y="0"/>
                </a:moveTo>
                <a:lnTo>
                  <a:pt x="2364581" y="0"/>
                </a:lnTo>
                <a:lnTo>
                  <a:pt x="2364581" y="2364582"/>
                </a:lnTo>
                <a:lnTo>
                  <a:pt x="0" y="23645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3354787" y="1582380"/>
            <a:ext cx="10998524" cy="1356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92"/>
              </a:lnSpc>
            </a:pPr>
            <a:r>
              <a:rPr lang="en-US" sz="10292" b="1" dirty="0">
                <a:solidFill>
                  <a:srgbClr val="03275A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CONCLUSION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981200" y="2915826"/>
            <a:ext cx="13745699" cy="60478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dirty="0"/>
              <a:t>In this project, we developed a complete pipeline for analyzing and modeling the Parkinson’s disease dataset using both statistical and neural-network-based methods. Through correlation analysis, we identified redundancy in the original 22-dimensional feature space and reduced it to 12 carefully selected features while preserving most of the relevant structure. The baseline neural network achieved a validation accuracy of 78.6%, and after dimensionality reduction the reduced-feature model still reached 75.0% accuracy, showing that the removed features contributed limited additional information. Importantly, decreasing the input dimension reduced the total number of trainable parameters by approximately 42%, resulting in a lighter, faster, and more computationally sustainable model. Overall, our results demonstrate that feature reduction is an effective strategy for improving model efficiency without significantly compromising predictive performance, offering a strong balance between accuracy and computational cost and making the reduced-feature model a more sustainable choice for real-world deployment.</a:t>
            </a:r>
            <a:endParaRPr lang="en-US" sz="2400" dirty="0">
              <a:solidFill>
                <a:srgbClr val="03275A"/>
              </a:solidFill>
              <a:latin typeface="Amiko"/>
              <a:ea typeface="Amiko"/>
              <a:cs typeface="Amiko"/>
              <a:sym typeface="Amik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583365" y="6257806"/>
            <a:ext cx="10093406" cy="6000989"/>
          </a:xfrm>
          <a:custGeom>
            <a:avLst/>
            <a:gdLst/>
            <a:ahLst/>
            <a:cxnLst/>
            <a:rect l="l" t="t" r="r" b="b"/>
            <a:pathLst>
              <a:path w="10093406" h="6000989">
                <a:moveTo>
                  <a:pt x="0" y="0"/>
                </a:moveTo>
                <a:lnTo>
                  <a:pt x="10093406" y="0"/>
                </a:lnTo>
                <a:lnTo>
                  <a:pt x="10093406" y="6000988"/>
                </a:lnTo>
                <a:lnTo>
                  <a:pt x="0" y="60009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H="1" flipV="1">
            <a:off x="-3265860" y="-1023938"/>
            <a:ext cx="10093406" cy="6000989"/>
          </a:xfrm>
          <a:custGeom>
            <a:avLst/>
            <a:gdLst/>
            <a:ahLst/>
            <a:cxnLst/>
            <a:rect l="l" t="t" r="r" b="b"/>
            <a:pathLst>
              <a:path w="10093406" h="6000989">
                <a:moveTo>
                  <a:pt x="10093406" y="6000989"/>
                </a:moveTo>
                <a:lnTo>
                  <a:pt x="0" y="6000989"/>
                </a:lnTo>
                <a:lnTo>
                  <a:pt x="0" y="0"/>
                </a:lnTo>
                <a:lnTo>
                  <a:pt x="10093406" y="0"/>
                </a:lnTo>
                <a:lnTo>
                  <a:pt x="10093406" y="600098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-1749240">
            <a:off x="14107833" y="8613248"/>
            <a:ext cx="2252125" cy="1126062"/>
          </a:xfrm>
          <a:custGeom>
            <a:avLst/>
            <a:gdLst/>
            <a:ahLst/>
            <a:cxnLst/>
            <a:rect l="l" t="t" r="r" b="b"/>
            <a:pathLst>
              <a:path w="2252125" h="1126062">
                <a:moveTo>
                  <a:pt x="0" y="0"/>
                </a:moveTo>
                <a:lnTo>
                  <a:pt x="2252124" y="0"/>
                </a:lnTo>
                <a:lnTo>
                  <a:pt x="2252124" y="1126062"/>
                </a:lnTo>
                <a:lnTo>
                  <a:pt x="0" y="11260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rot="-1749240" flipV="1">
            <a:off x="1905275" y="650043"/>
            <a:ext cx="2128989" cy="1064495"/>
          </a:xfrm>
          <a:custGeom>
            <a:avLst/>
            <a:gdLst/>
            <a:ahLst/>
            <a:cxnLst/>
            <a:rect l="l" t="t" r="r" b="b"/>
            <a:pathLst>
              <a:path w="2128989" h="1064495">
                <a:moveTo>
                  <a:pt x="0" y="1064495"/>
                </a:moveTo>
                <a:lnTo>
                  <a:pt x="2128989" y="1064495"/>
                </a:lnTo>
                <a:lnTo>
                  <a:pt x="2128989" y="0"/>
                </a:lnTo>
                <a:lnTo>
                  <a:pt x="0" y="0"/>
                </a:lnTo>
                <a:lnTo>
                  <a:pt x="0" y="106449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6491586" y="8853488"/>
            <a:ext cx="2364581" cy="2364581"/>
          </a:xfrm>
          <a:custGeom>
            <a:avLst/>
            <a:gdLst/>
            <a:ahLst/>
            <a:cxnLst/>
            <a:rect l="l" t="t" r="r" b="b"/>
            <a:pathLst>
              <a:path w="2364581" h="2364581">
                <a:moveTo>
                  <a:pt x="0" y="0"/>
                </a:moveTo>
                <a:lnTo>
                  <a:pt x="2364581" y="0"/>
                </a:lnTo>
                <a:lnTo>
                  <a:pt x="2364581" y="2364581"/>
                </a:lnTo>
                <a:lnTo>
                  <a:pt x="0" y="23645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-869488" y="-983397"/>
            <a:ext cx="2364581" cy="2364581"/>
          </a:xfrm>
          <a:custGeom>
            <a:avLst/>
            <a:gdLst/>
            <a:ahLst/>
            <a:cxnLst/>
            <a:rect l="l" t="t" r="r" b="b"/>
            <a:pathLst>
              <a:path w="2364581" h="2364581">
                <a:moveTo>
                  <a:pt x="0" y="0"/>
                </a:moveTo>
                <a:lnTo>
                  <a:pt x="2364581" y="0"/>
                </a:lnTo>
                <a:lnTo>
                  <a:pt x="2364581" y="2364582"/>
                </a:lnTo>
                <a:lnTo>
                  <a:pt x="0" y="23645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4315856" y="3332480"/>
            <a:ext cx="9656288" cy="39173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099"/>
              </a:lnSpc>
            </a:pPr>
            <a:r>
              <a:rPr lang="en-US" sz="15099" b="1">
                <a:solidFill>
                  <a:srgbClr val="03275A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THANK</a:t>
            </a:r>
          </a:p>
          <a:p>
            <a:pPr algn="ctr">
              <a:lnSpc>
                <a:spcPts val="15099"/>
              </a:lnSpc>
            </a:pPr>
            <a:r>
              <a:rPr lang="en-US" sz="15099" b="1">
                <a:solidFill>
                  <a:srgbClr val="03275A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</TotalTime>
  <Words>1160</Words>
  <Application>Microsoft Office PowerPoint</Application>
  <PresentationFormat>Custom</PresentationFormat>
  <Paragraphs>145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Arial</vt:lpstr>
      <vt:lpstr>Amiko</vt:lpstr>
      <vt:lpstr>Nunito Sans Bold</vt:lpstr>
      <vt:lpstr>Cambria Math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Math405 Project</dc:title>
  <cp:lastModifiedBy>Hussain Alnasser</cp:lastModifiedBy>
  <cp:revision>2</cp:revision>
  <dcterms:created xsi:type="dcterms:W3CDTF">2006-08-16T00:00:00Z</dcterms:created>
  <dcterms:modified xsi:type="dcterms:W3CDTF">2025-12-06T18:48:45Z</dcterms:modified>
  <dc:identifier>DAG6meGc1Zo</dc:identifier>
</cp:coreProperties>
</file>